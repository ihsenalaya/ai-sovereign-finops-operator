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Je vais vous présenter en 20 minutes l'AI Sovereign FinOps Operator — un opérateur Kubernetes open source que nous avons développé pour répondre à un problème très concret : quand les équipes adoptent des LLM en production, personne ne sait combien ça coûte, si les données restent en France, et qui appelle quoi en dehors du gateway officiel.</a:t>
            </a:r>
          </a:p>
          <a:p/>
          <a:p>
            <a:r>
              <a:t>La présentation s'adresse aux deux publics : les commerciaux et les décideurs, avec les problèmes business et les impacts ; et les développeurs, avec l'architecture technique et les CRDs.</a:t>
            </a:r>
          </a:p>
          <a:p/>
          <a:p>
            <a:r>
              <a:t>Commençons par le problème.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trois problèmes coexistent dans la quasi-totalité des entreprises qui utilisent des LLM en production.</a:t>
            </a:r>
          </a:p>
          <a:p/>
          <a:p>
            <a:r>
              <a:t>Premier angle mort : le coût. La facture Azure ou OpenAI arrive globale. Impossible de savoir quelle équipe a consommé quoi. Le CFO reçoit une facture de 50 000 euros sans pouvoir imputer.</a:t>
            </a:r>
          </a:p>
          <a:p/>
          <a:p>
            <a:r>
              <a:t>Deuxième angle mort : la conformité. Le RGPD et l'AI Act imposent que les données restent en zone européenne. Mais personne ne valide que le modèle utilisé en production respecte cette contrainte. On découvre ça lors d'un audit — après l'incident.</a:t>
            </a:r>
          </a:p>
          <a:p/>
          <a:p>
            <a:r>
              <a:t>Troisième angle mort : le Shadow AI. Des équipes contournent le gateway officiel et appellent api.openai.com directement. Zéro visibilité, zéro budget, zéro conformité. Le DSI l'apprend sur la facture.</a:t>
            </a:r>
          </a:p>
          <a:p/>
          <a:p>
            <a:r>
              <a:t>Notre réponse : un opérateur Kubernetes qui gère tout ça de manière déclarative, auditée, et réconciliée en continu.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est en deux plans bien séparés.</a:t>
            </a:r>
          </a:p>
          <a:p/>
          <a:p>
            <a:r>
              <a:t>Le plan de données, c'est Envoy AI Gateway. Il reçoit le trafic des applications, route vers le bon provider, et émet des métriques OTel — tokens réels, durée de requête — par namespace et par application, grâce à un sidecar injecté automatiquement.</a:t>
            </a:r>
          </a:p>
          <a:p/>
          <a:p>
            <a:r>
              <a:t>Le plan de contrôle, c'est notre opérateur. Il lit ces métriques, applique les politiques déclarées dans les CRDs, calcule les scores, et écrit les résultats dans le .status de chaque objet Kubernetes. Prometheus scrappe ces métriques, Grafana les affiche.</a:t>
            </a:r>
          </a:p>
          <a:p/>
          <a:p>
            <a:r>
              <a:t>Et en parallèle, Tetragon tourne en DaemonSet au niveau noyau — il observe les connexions TCP sur le port 443 et détecte les appels LLM qui contournent le gateway. C'est le Shadow AI engine.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Premier problème : la facture arrive globale. Impossible de savoir quelle équipe RH, finance ou legal consomme le plus.</a:t>
            </a:r>
          </a:p>
          <a:p/>
          <a:p>
            <a:r>
              <a:t>Notre solution : un sidecar est injecté automatiquement dans chaque namespace. Il ajoute les en-têtes x-greenops-namespace et x-greenops-app à chaque requête. Le gateway Envoy les lit et tag les métriques OTel par namespace et par application.</a:t>
            </a:r>
          </a:p>
          <a:p/>
          <a:p>
            <a:r>
              <a:t>L'opérateur multiplie les tokens réels mesurés par les prix officiels Azure, et écrit le coût en euros dans le .status de l'AIFinOpsReport.</a:t>
            </a:r>
          </a:p>
          <a:p/>
          <a:p>
            <a:r>
              <a:t>Impact concret : vous avez le chargeback exact par équipe dès le lendemain. Vous savez que l'équipe finance a consommé 42 euros ce mois-ci, contre 8 euros pour RH. Et vous avez une projection mensuelle basée sur le run-rate observé.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problème : un budget fixé en janvier est dépassé en mars sans que personne ne soit alerté.</a:t>
            </a:r>
          </a:p>
          <a:p/>
          <a:p>
            <a:r>
              <a:t>On déclare un AIBudgetPolicy avec le budget mensuel en euros et trois seuils : warning à 70%, critical à 90%, et hardLimit à 100%. L'opérateur projette la dépense mensuelle en continu — il extrapole le run-rate sur 30 jours.</a:t>
            </a:r>
          </a:p>
          <a:p/>
          <a:p>
            <a:r>
              <a:t>Quand le seuil est franchi, l'opérateur change la phase de l'objet Kubernetes : WithinBudget, Warning, Critical, Exceeded. En mode enforce, il peut bloquer les appels ou exiger une approbation humaine.</a:t>
            </a:r>
          </a:p>
          <a:p/>
          <a:p>
            <a:r>
              <a:t>Dans la démo live, l'équipe finance a un budget serré — vous verrez la phase passer Critical en quelques minutes de trafic réel.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problème : le RGPD et l'AI Act imposent que les données restent en zone européenne. Mais rien ne valide ça en production.</a:t>
            </a:r>
          </a:p>
          <a:p/>
          <a:p>
            <a:r>
              <a:t>On déclare une AISovereigntyPolicy avec les zones autorisées — FR et EU — et les zones interdites — US et CN. Chaque AIProvider dans le catalogue porte sa zone réelle : dataResidency fr, eu, ou us.</a:t>
            </a:r>
          </a:p>
          <a:p/>
          <a:p>
            <a:r>
              <a:t>Dans la démo, vous voyez trois zones simultanément : Azure OpenAI France Central — conforme. Mistral EU sur Azure Foundry — conforme. Azure OpenAI US East — violation critique, severity=critical.</a:t>
            </a:r>
          </a:p>
          <a:p/>
          <a:p>
            <a:r>
              <a:t>L'opérateur émet des métriques avec le namespace, l'application, et la sévérité de la violation. En mode enforce, il peut bloquer le trafic vers les zones interdites.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Quatrième problème : choisir un modèle LLM se fait souvent sur le prix ou la réputation. Personne ne synthétise les 5 dimensions simultanément.</a:t>
            </a:r>
          </a:p>
          <a:p/>
          <a:p>
            <a:r>
              <a:t>L'opérateur calcule en continu 5 scores normalisés entre 0 et 1 pour chaque modèle : le score de coût inversé — moins cher, plus élevé — la qualité basée sur le tier déclaré, la latence mesurée par le gateway, la fiabilité sur les dernières requêtes, et la souveraineté.</a:t>
            </a:r>
          </a:p>
          <a:p/>
          <a:p>
            <a:r>
              <a:t>Ce dernier score est un gate dur : si la zone est interdite, le routing score total est 0, peu importe les autres dimensions.</a:t>
            </a:r>
          </a:p>
          <a:p/>
          <a:p>
            <a:r>
              <a:t>Le résultat s'affiche dans le radar Grafana en temps réel — vous voyez instantanément que Mistral EU a un meilleur profil souveraineté que OpenAI US, et l'opérateur génère la recommandation automatiquement.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Cinquième problème : des équipes appellent api.openai.com directement, sans passer par le gateway. Zéro visibilité, zéro conformité, zéro budget.</a:t>
            </a:r>
          </a:p>
          <a:p/>
          <a:p>
            <a:r>
              <a:t>Notre solution utilise Tetragon, un DaemonSet eBPF qui observe les connexions TCP au niveau noyau Linux. Quand un pod ouvre une connexion sur le port 443 vers un host LLM connu — api.openai.com, anthropic.com, et autres — Tetragon capture l'événement.</a:t>
            </a:r>
          </a:p>
          <a:p/>
          <a:p>
            <a:r>
              <a:t>L'opérateur reçoit cet événement, identifie le namespace et l'application, et met à jour la métrique shadow_ai_egress avec severity=critical.</a:t>
            </a:r>
          </a:p>
          <a:p/>
          <a:p>
            <a:r>
              <a:t>Dans la démo, vous voyez finance/shadow-ai-rogue être détecté en moins de 30 secondes — sans aucune modification du code de l'application.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Sixième problème : quand on parle d'un opérateur qui reroute automatiquement le trafic de production, les équipes ops ont peur. Et c'est légitime.</a:t>
            </a:r>
          </a:p>
          <a:p/>
          <a:p>
            <a:r>
              <a:t>L'AIChangeRequest est notre réponse : toute action sur le routage doit passer par une demande déclarative. Elle démarre en phase Pending, un opérateur humain l'approuve — ou la rejette — et seulement à ce moment-là l'actuation se déclenche.</a:t>
            </a:r>
          </a:p>
          <a:p/>
          <a:p>
            <a:r>
              <a:t>Si personne n'approuve dans le délai configuré, elle expire automatiquement. Toutes ces transitions sont horodatées et auditables.</a:t>
            </a:r>
          </a:p>
          <a:p/>
          <a:p>
            <a:r>
              <a:t>C'est la fonctionnalité qui permet d'utiliser l'opérateur dans des environnements régulés — banque, santé, défense — avec un circuit de validation conforme SOC 2 ou ISO 27001.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Septième problème : pour basculer du trafic entre deux modèles LLM, il faut aujourd'hui modifier des configurations gateway à la main — sans rollback propre, sans historique.</a:t>
            </a:r>
          </a:p>
          <a:p/>
          <a:p>
            <a:r>
              <a:t>L'AIRoutingPolicy permet de déclarer des règles de routage avec des poids. Par exemple : 80% du trafic vers gpt-france-mini, 20% vers mistral-large-latest. Le gateway reçoit ces règles sans redémarrage.</a:t>
            </a:r>
          </a:p>
          <a:p/>
          <a:p>
            <a:r>
              <a:t>L'AIRouteOverride est pour les situations d'urgence : un reroute immédiat et temporaire. Quand on le supprime, le trafic revient automatiquement à la route normale. Rollback en 10 secondes.</a:t>
            </a:r>
          </a:p>
          <a:p/>
          <a:p>
            <a:r>
              <a:t>Ces deux CRDs permettent de faire du A/B testing entre modèles sans toucher au code des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Huitième problème : quand on optimise les coûts, on est tenté de basculer vers un modèle moins cher. Mais si la qualité chute, c'est l'utilisateur final qui le découvre en premier.</a:t>
            </a:r>
          </a:p>
          <a:p/>
          <a:p>
            <a:r>
              <a:t>L'AIQualityGate permet de déclarer un seuil minimal de qualité par application. Si le modèle sélectionné est en dessous de ce tier, l'opérateur génère une violation et l'indique dans le .status.</a:t>
            </a:r>
          </a:p>
          <a:p/>
          <a:p>
            <a:r>
              <a:t>Ce score de qualité est intégré comme l'une des 5 dimensions du routing score — avec un poids de 30%. Un modèle bon marché mais de mauvaise qualité sera pénalisé dans le score global.</a:t>
            </a:r>
          </a:p>
          <a:p/>
          <a:p>
            <a:r>
              <a:t>Le panel Grafana montre la colonne quality_score dans le radar, et vous voyez immédiatement quel modèle est sous-performant.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Neuvième problème : les équipes ne savent pas qu'un modèle dix fois moins cher existe pour leur cas d'usage. Les économies restent invisibles.</a:t>
            </a:r>
          </a:p>
          <a:p/>
          <a:p>
            <a:r>
              <a:t>L'AIBreakEvenAnalysis compare le modèle actuellement utilisé avec un alternatif, sur les tokens réellement observés — pas des estimations. Si le modèle alternatif est moins cher, l'opérateur calcule les économies mensuelles et les écrit dans le .status.</a:t>
            </a:r>
          </a:p>
          <a:p/>
          <a:p>
            <a:r>
              <a:t>Par exemple : si l'équipe RH passe de gpt-france-mini à mistral-large-latest, l'opérateur calcule que ça représente X euros d'économies par mois, basé sur les tokens réels du mois dernier.</a:t>
            </a:r>
          </a:p>
          <a:p/>
          <a:p>
            <a:r>
              <a:t>Cette recommandation est automatiquement exportée en métrique Prometheus et visible dans le dashboard Grafana.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ce que vous voyez en direct dans Grafana.</a:t>
            </a:r>
          </a:p>
          <a:p/>
          <a:p>
            <a:r>
              <a:t>Quatre flux de trafic réels, trois providers, trois zones différentes.</a:t>
            </a:r>
          </a:p>
          <a:p/>
          <a:p>
            <a:r>
              <a:t>Azure OpenAI France Central — gpt-france-mini — utilisé par les équipes RH et legal. Zone France, conforme. Score de souveraineté maximum.</a:t>
            </a:r>
          </a:p>
          <a:p/>
          <a:p>
            <a:r>
              <a:t>Mistral EU sur Azure Foundry — mistral-large-latest — utilisé par marketing. Zone EU, conforme. Le modèle européen par excellence.</a:t>
            </a:r>
          </a:p>
          <a:p/>
          <a:p>
            <a:r>
              <a:t>Azure OpenAI US East — gpt-us-mini — utilisé par finance. Zone US, violation critique. Vous voyez le findings counter augmenter en temps réel dans Grafana.</a:t>
            </a:r>
          </a:p>
          <a:p/>
          <a:p>
            <a:r>
              <a:t>Et le Shadow AI : finance/shadow-ai-rogue appelle api.openai.com directement, sans passer par le gateway. Tetragon l'a détecté via eBPF — c'est la barre rouge dans le panel Shadow AI.</a:t>
            </a:r>
          </a:p>
          <a:p/>
          <a:p>
            <a:r>
              <a:t>Ouvrons Grafana.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 la gouvernance est exprimée en 11 CRDs Kubernetes dans le groupe API aiops.imperium.io.</a:t>
            </a:r>
          </a:p>
          <a:p/>
          <a:p>
            <a:r>
              <a:t>Le catalogue : AIGateway, AIProvider, AIModel. C'est la déclaration de votre écosystème LLM — qui est là, à quel prix, dans quelle zone.</a:t>
            </a:r>
          </a:p>
          <a:p/>
          <a:p>
            <a:r>
              <a:t>Coût et budget : AIFinOpsReport pour le reporting, AIBudgetPolicy pour les limites, AIBreakEvenAnalysis pour les recommandations.</a:t>
            </a:r>
          </a:p>
          <a:p/>
          <a:p>
            <a:r>
              <a:t>Routage : AIRoutingPolicy pour les règles de canary, AIRouteOverride pour les interventions d'urgence, AIChangeRequest pour le circuit d'approbation humaine.</a:t>
            </a:r>
          </a:p>
          <a:p/>
          <a:p>
            <a:r>
              <a:t>Qualité et souveraineté : AIQualityGate et AISovereigntyPolicy.</a:t>
            </a:r>
          </a:p>
          <a:p/>
          <a:p>
            <a:r>
              <a:t>Tout est GitOps-ready — vous déclarez l'état désiré, l'opérateur réconcilie en continu.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L'opérateur expose 23 métriques Prometheus sous le préfixe ai_finops_.</a:t>
            </a:r>
          </a:p>
          <a:p/>
          <a:p>
            <a:r>
              <a:t>Les quatre catégories : coût et tokens — la facturation réelle. Budget et économies — le contrôle des dépenses et les recommandations. Souveraineté — les violations et le shadow AI. Et le routing score — les 5 dimensions du radar Grafana.</a:t>
            </a:r>
          </a:p>
          <a:p/>
          <a:p>
            <a:r>
              <a:t>Ce qui est important : toutes ces métriques portent les labels namespace et application. Ça veut dire que dans Grafana, vous pouvez filtrer par équipe sans aucune configuration supplémentaire.</a:t>
            </a:r>
          </a:p>
          <a:p/>
          <a:p>
            <a:r>
              <a:t>Le radar 5D est la visualisation la plus parlante — en un coup d'œil, vous voyez le profil complet de chaque modèle sur les 5 dimensions.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déploiement tient en trois étapes.</a:t>
            </a:r>
          </a:p>
          <a:p/>
          <a:p>
            <a:r>
              <a:t>Première étape : installer l'opérateur via Helm. Une seule commande, ça crée le namespace, installe les 11 CRDs, le deployment, le RBAC et optionnellement le ServiceMonitor Prometheus.</a:t>
            </a:r>
          </a:p>
          <a:p/>
          <a:p>
            <a:r>
              <a:t>Deuxième étape : déclarer le catalogue. On applique les fichiers YAML pour chaque provider — OpenAI France, OpenAI US, Mistral EU. Chaque fichier crée les ressources Envoy AI Gateway et les objets opérateur correspondants.</a:t>
            </a:r>
          </a:p>
          <a:p/>
          <a:p>
            <a:r>
              <a:t>Troisième étape : déclarer les politiques. AISovereigntyPolicy pour la conformité, AIBudgetPolicy pour chaque équipe. L'opérateur commence à réconcilier toutes les 30 secondes.</a:t>
            </a:r>
          </a:p>
          <a:p/>
          <a:p>
            <a:r>
              <a:t>Pour reproduire la démo complète depuis zéro : une seule commande, deploy.sh up. Elle crée le cluster Kind, construit l'image, installe tout, et démarre les applications de 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synthèse, 9 problèmes concrets, 9 fonctionnalités, 9 impacts mesurables.</a:t>
            </a:r>
          </a:p>
          <a:p/>
          <a:p>
            <a:r>
              <a:t>La facture globale → attribution par namespace, chargeback exact dès J+1.</a:t>
            </a:r>
          </a:p>
          <a:p>
            <a:r>
              <a:t>Le budget dépassé → AIBudgetPolicy avec phases et enforcement automatique.</a:t>
            </a:r>
          </a:p>
          <a:p>
            <a:r>
              <a:t>Le RGPD non vérifié → AISovereigntyPolicy avec trois zones en démo live.</a:t>
            </a:r>
          </a:p>
          <a:p>
            <a:r>
              <a:t>Le choix de modèle intuitif → Routing Score 5D visible dans le radar Grafana.</a:t>
            </a:r>
          </a:p>
          <a:p>
            <a:r>
              <a:t>Le Shadow AI invisible → Tetragon eBPF, détection en moins de 30 secondes.</a:t>
            </a:r>
          </a:p>
          <a:p>
            <a:r>
              <a:t>Les changements sans validation → AIChangeRequest avec circuit d'approbation.</a:t>
            </a:r>
          </a:p>
          <a:p>
            <a:r>
              <a:t>Le routage manuel → AIRoutingPolicy et AIRouteOverride, rollback en 10 secondes.</a:t>
            </a:r>
          </a:p>
          <a:p>
            <a:r>
              <a:t>La qualité silencieuse → AIQualityGate avec tier minimum configurable.</a:t>
            </a:r>
          </a:p>
          <a:p>
            <a:r>
              <a:t>Les économies invisibles → AIBreakEvenAnalysis sur tokens réels.</a:t>
            </a:r>
          </a:p>
          <a:p/>
          <a:p>
            <a:r>
              <a:t>Tout ça en 11 CRDs, 23 métriques, Apache 2.0.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termine avec honnêteté sur les limites actuelles.</a:t>
            </a:r>
          </a:p>
          <a:p/>
          <a:p>
            <a:r>
              <a:t>Le score de latence est calculé sur la durée totale mesurée par le gateway — le time-to-first-token, qui est souvent la métrique la plus importante pour l'expérience utilisateur, n'est pas encore isolé.</a:t>
            </a:r>
          </a:p>
          <a:p/>
          <a:p>
            <a:r>
              <a:t>Le quality score est statique — il reflète le tier déclaré dans l'AIModel, pas une évaluation automatique de la qualité des réponses. C'est une limite connue qu'on assume.</a:t>
            </a:r>
          </a:p>
          <a:p/>
          <a:p>
            <a:r>
              <a:t>L'enforcement ne fonctionne qu'avec Envoy AI Gateway dans cette version. Kong, NGINX et Istio ne sont pas encore supportés.</a:t>
            </a:r>
          </a:p>
          <a:p/>
          <a:p>
            <a:r>
              <a:t>Tetragon nécessite des privilèges noyau. Dans des environnements très restrictifs, on peut désactiver le plan eBPF — le plan gateway reste totalement fonctionnel.</a:t>
            </a:r>
          </a:p>
          <a:p/>
          <a:p>
            <a:r>
              <a:t>Ces limites sont documentées dans le README. On préfère être transparents plutôt que de surprendre en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pour votre attention.</a:t>
            </a:r>
          </a:p>
          <a:p/>
          <a:p>
            <a:r>
              <a:t>Le projet est open source sous licence Apache 2.0, disponible sur GitHub. La démo tourne en ce moment sur le cluster Kind local — Grafana est accessible sur localhost:3000.</a:t>
            </a:r>
          </a:p>
          <a:p/>
          <a:p>
            <a:r>
              <a:t>Pour reproduire la démo chez vous : cloner le repo, lancer deploy.sh up, et vous avez l'environnement complet en moins de 10 minutes.</a:t>
            </a:r>
          </a:p>
          <a:p/>
          <a:p>
            <a:r>
              <a:t>Je suis disponible pour les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7200"/>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41148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KUBERNETES OPERATOR  ·  GOUVERNANCE IA</a:t>
            </a:r>
          </a:p>
        </p:txBody>
      </p:sp>
      <p:sp>
        <p:nvSpPr>
          <p:cNvPr id="6" name="TextBox 5"/>
          <p:cNvSpPr txBox="1"/>
          <p:nvPr/>
        </p:nvSpPr>
        <p:spPr>
          <a:xfrm>
            <a:off x="822960" y="1920240"/>
            <a:ext cx="10515600" cy="13716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5600" b="1" i="0">
                <a:solidFill>
                  <a:srgbClr val="FFFFFF"/>
                </a:solidFill>
                <a:latin typeface="Calibri"/>
              </a:rPr>
              <a:t>AI Sovereign</a:t>
            </a:r>
          </a:p>
          <a:p>
            <a:pPr algn="l">
              <a:lnSpc>
                <a:spcPct val="100000"/>
              </a:lnSpc>
              <a:spcBef>
                <a:spcPts val="0"/>
              </a:spcBef>
              <a:spcAft>
                <a:spcPts val="400"/>
              </a:spcAft>
            </a:pPr>
            <a:r>
              <a:rPr sz="5600" b="1" i="0">
                <a:solidFill>
                  <a:srgbClr val="1EC87A"/>
                </a:solidFill>
                <a:latin typeface="Calibri"/>
              </a:rPr>
              <a:t>FinOps Operator</a:t>
            </a:r>
          </a:p>
        </p:txBody>
      </p:sp>
      <p:sp>
        <p:nvSpPr>
          <p:cNvPr id="7" name="TextBox 6"/>
          <p:cNvSpPr txBox="1"/>
          <p:nvPr/>
        </p:nvSpPr>
        <p:spPr>
          <a:xfrm>
            <a:off x="822960" y="3703320"/>
            <a:ext cx="10607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600" b="0" i="0">
                <a:solidFill>
                  <a:srgbClr val="B8C6D4"/>
                </a:solidFill>
                <a:latin typeface="Calibri"/>
              </a:rPr>
              <a:t>Coût · Souveraineté · Budget · Routage · Shadow AI — en temps réel</a:t>
            </a:r>
          </a:p>
        </p:txBody>
      </p:sp>
      <p:sp>
        <p:nvSpPr>
          <p:cNvPr id="8" name="TextBox 7"/>
          <p:cNvSpPr txBox="1"/>
          <p:nvPr/>
        </p:nvSpPr>
        <p:spPr>
          <a:xfrm>
            <a:off x="822960" y="4663440"/>
            <a:ext cx="10607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0" i="0">
                <a:solidFill>
                  <a:srgbClr val="5B6670"/>
                </a:solidFill>
                <a:latin typeface="Calibri"/>
              </a:rPr>
              <a:t>Commerciaux &amp; Développeurs  ·  20 min</a:t>
            </a:r>
          </a:p>
        </p:txBody>
      </p:sp>
      <p:sp>
        <p:nvSpPr>
          <p:cNvPr id="9" name="TextBox 8"/>
          <p:cNvSpPr txBox="1"/>
          <p:nvPr/>
        </p:nvSpPr>
        <p:spPr>
          <a:xfrm>
            <a:off x="822960" y="5852160"/>
            <a:ext cx="10607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11 CRDs  ·  23 métriques  ·  3 providers réels  ·  Grafana radar 5D  ·  v0.5.2  ·  Apache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LE PROBLÈME</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3 angles morts quand l'IA arrive plus vite que la gouvernance</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2</a:t>
            </a:r>
          </a:p>
        </p:txBody>
      </p:sp>
      <p:sp>
        <p:nvSpPr>
          <p:cNvPr id="7" name="Rectangle 6"/>
          <p:cNvSpPr/>
          <p:nvPr/>
        </p:nvSpPr>
        <p:spPr>
          <a:xfrm>
            <a:off x="502920" y="1298448"/>
            <a:ext cx="3611880" cy="475488"/>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53312"/>
            <a:ext cx="3337560" cy="36576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1" i="0">
                <a:solidFill>
                  <a:srgbClr val="FFFFFF"/>
                </a:solidFill>
                <a:latin typeface="Calibri"/>
              </a:rPr>
              <a:t>💸  Coût incontrôlable</a:t>
            </a:r>
          </a:p>
        </p:txBody>
      </p:sp>
      <p:sp>
        <p:nvSpPr>
          <p:cNvPr id="9" name="Rounded Rectangle 8"/>
          <p:cNvSpPr/>
          <p:nvPr/>
        </p:nvSpPr>
        <p:spPr>
          <a:xfrm>
            <a:off x="502920" y="1810512"/>
            <a:ext cx="3611880" cy="3200400"/>
          </a:xfrm>
          <a:prstGeom prst="roundRect">
            <a:avLst/>
          </a:prstGeom>
          <a:solidFill>
            <a:srgbClr val="F4F7FA"/>
          </a:solidFill>
          <a:ln w="1016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38528"/>
            <a:ext cx="3383280" cy="292608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00" b="0" i="0">
                <a:solidFill>
                  <a:srgbClr val="1A2430"/>
                </a:solidFill>
                <a:latin typeface="Calibri"/>
              </a:rPr>
              <a:t>▸  Facture globale — qui consomme quoi ?</a:t>
            </a:r>
          </a:p>
          <a:p>
            <a:pPr algn="l">
              <a:lnSpc>
                <a:spcPct val="125000"/>
              </a:lnSpc>
              <a:spcBef>
                <a:spcPts val="0"/>
              </a:spcBef>
              <a:spcAft>
                <a:spcPts val="600"/>
              </a:spcAft>
            </a:pPr>
            <a:r>
              <a:rPr sz="1300" b="0" i="0">
                <a:solidFill>
                  <a:srgbClr val="1A2430"/>
                </a:solidFill>
                <a:latin typeface="Calibri"/>
              </a:rPr>
              <a:t>▸  Aucune décomposition par équipe</a:t>
            </a:r>
          </a:p>
          <a:p>
            <a:pPr algn="l">
              <a:lnSpc>
                <a:spcPct val="125000"/>
              </a:lnSpc>
              <a:spcBef>
                <a:spcPts val="0"/>
              </a:spcBef>
              <a:spcAft>
                <a:spcPts val="600"/>
              </a:spcAft>
            </a:pPr>
            <a:r>
              <a:rPr sz="1300" b="0" i="0">
                <a:solidFill>
                  <a:srgbClr val="1A2430"/>
                </a:solidFill>
                <a:latin typeface="Calibri"/>
              </a:rPr>
              <a:t>▸  Le CFO découvre le dépassement trop tard</a:t>
            </a:r>
          </a:p>
        </p:txBody>
      </p:sp>
      <p:sp>
        <p:nvSpPr>
          <p:cNvPr id="11" name="Rectangle 10"/>
          <p:cNvSpPr/>
          <p:nvPr/>
        </p:nvSpPr>
        <p:spPr>
          <a:xfrm>
            <a:off x="4297680" y="1298448"/>
            <a:ext cx="3611880"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353312"/>
            <a:ext cx="3337560" cy="36576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1" i="0">
                <a:solidFill>
                  <a:srgbClr val="FFFFFF"/>
                </a:solidFill>
                <a:latin typeface="Calibri"/>
              </a:rPr>
              <a:t>🔒  Conformité aveugle</a:t>
            </a:r>
          </a:p>
        </p:txBody>
      </p:sp>
      <p:sp>
        <p:nvSpPr>
          <p:cNvPr id="13" name="Rounded Rectangle 12"/>
          <p:cNvSpPr/>
          <p:nvPr/>
        </p:nvSpPr>
        <p:spPr>
          <a:xfrm>
            <a:off x="4297680" y="1810512"/>
            <a:ext cx="3611880" cy="3200400"/>
          </a:xfrm>
          <a:prstGeom prst="roundRect">
            <a:avLst/>
          </a:prstGeom>
          <a:solidFill>
            <a:srgbClr val="F4F7FA"/>
          </a:solidFill>
          <a:ln w="1016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938528"/>
            <a:ext cx="3383280" cy="292608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00" b="0" i="0">
                <a:solidFill>
                  <a:srgbClr val="1A2430"/>
                </a:solidFill>
                <a:latin typeface="Calibri"/>
              </a:rPr>
              <a:t>▸  RGPD &amp; AI Act : données en zone EU/FR</a:t>
            </a:r>
          </a:p>
          <a:p>
            <a:pPr algn="l">
              <a:lnSpc>
                <a:spcPct val="125000"/>
              </a:lnSpc>
              <a:spcBef>
                <a:spcPts val="0"/>
              </a:spcBef>
              <a:spcAft>
                <a:spcPts val="600"/>
              </a:spcAft>
            </a:pPr>
            <a:r>
              <a:rPr sz="1300" b="0" i="0">
                <a:solidFill>
                  <a:srgbClr val="1A2430"/>
                </a:solidFill>
                <a:latin typeface="Calibri"/>
              </a:rPr>
              <a:t>▸  Aucun outil ne valide la zone du provider</a:t>
            </a:r>
          </a:p>
          <a:p>
            <a:pPr algn="l">
              <a:lnSpc>
                <a:spcPct val="125000"/>
              </a:lnSpc>
              <a:spcBef>
                <a:spcPts val="0"/>
              </a:spcBef>
              <a:spcAft>
                <a:spcPts val="600"/>
              </a:spcAft>
            </a:pPr>
            <a:r>
              <a:rPr sz="1300" b="0" i="0">
                <a:solidFill>
                  <a:srgbClr val="1A2430"/>
                </a:solidFill>
                <a:latin typeface="Calibri"/>
              </a:rPr>
              <a:t>▸  Découverte à l'audit — après incident</a:t>
            </a:r>
          </a:p>
        </p:txBody>
      </p:sp>
      <p:sp>
        <p:nvSpPr>
          <p:cNvPr id="15" name="Rectangle 14"/>
          <p:cNvSpPr/>
          <p:nvPr/>
        </p:nvSpPr>
        <p:spPr>
          <a:xfrm>
            <a:off x="8092440" y="1298448"/>
            <a:ext cx="3611880" cy="475488"/>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353312"/>
            <a:ext cx="3337560" cy="36576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1" i="0">
                <a:solidFill>
                  <a:srgbClr val="FFFFFF"/>
                </a:solidFill>
                <a:latin typeface="Calibri"/>
              </a:rPr>
              <a:t>👻  Shadow AI invisible</a:t>
            </a:r>
          </a:p>
        </p:txBody>
      </p:sp>
      <p:sp>
        <p:nvSpPr>
          <p:cNvPr id="17" name="Rounded Rectangle 16"/>
          <p:cNvSpPr/>
          <p:nvPr/>
        </p:nvSpPr>
        <p:spPr>
          <a:xfrm>
            <a:off x="8092440" y="1810512"/>
            <a:ext cx="3611880" cy="3200400"/>
          </a:xfrm>
          <a:prstGeom prst="roundRect">
            <a:avLst/>
          </a:prstGeom>
          <a:solidFill>
            <a:srgbClr val="F4F7FA"/>
          </a:solidFill>
          <a:ln w="1016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938528"/>
            <a:ext cx="3383280" cy="292608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00" b="0" i="0">
                <a:solidFill>
                  <a:srgbClr val="1A2430"/>
                </a:solidFill>
                <a:latin typeface="Calibri"/>
              </a:rPr>
              <a:t>▸  Équipes appellent api.openai.com direct</a:t>
            </a:r>
          </a:p>
          <a:p>
            <a:pPr algn="l">
              <a:lnSpc>
                <a:spcPct val="125000"/>
              </a:lnSpc>
              <a:spcBef>
                <a:spcPts val="0"/>
              </a:spcBef>
              <a:spcAft>
                <a:spcPts val="600"/>
              </a:spcAft>
            </a:pPr>
            <a:r>
              <a:rPr sz="1300" b="0" i="0">
                <a:solidFill>
                  <a:srgbClr val="1A2430"/>
                </a:solidFill>
                <a:latin typeface="Calibri"/>
              </a:rPr>
              <a:t>▸  Zéro visibilité · zéro budget · zéro conformité</a:t>
            </a:r>
          </a:p>
          <a:p>
            <a:pPr algn="l">
              <a:lnSpc>
                <a:spcPct val="125000"/>
              </a:lnSpc>
              <a:spcBef>
                <a:spcPts val="0"/>
              </a:spcBef>
              <a:spcAft>
                <a:spcPts val="600"/>
              </a:spcAft>
            </a:pPr>
            <a:r>
              <a:rPr sz="1300" b="0" i="0">
                <a:solidFill>
                  <a:srgbClr val="1A2430"/>
                </a:solidFill>
                <a:latin typeface="Calibri"/>
              </a:rPr>
              <a:t>▸  DSI découvre ça sur la facture</a:t>
            </a:r>
          </a:p>
        </p:txBody>
      </p:sp>
      <p:sp>
        <p:nvSpPr>
          <p:cNvPr id="19" name="Rounded Rectangle 18"/>
          <p:cNvSpPr/>
          <p:nvPr/>
        </p:nvSpPr>
        <p:spPr>
          <a:xfrm>
            <a:off x="502920" y="5166360"/>
            <a:ext cx="11155680" cy="960120"/>
          </a:xfrm>
          <a:prstGeom prst="roundRect">
            <a:avLst/>
          </a:prstGeom>
          <a:solidFill>
            <a:srgbClr val="E9F8F1"/>
          </a:solidFill>
          <a:ln w="15875">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5257800"/>
            <a:ext cx="10789920" cy="804672"/>
          </a:xfrm>
          <a:prstGeom prst="rect">
            <a:avLst/>
          </a:prstGeom>
          <a:noFill/>
        </p:spPr>
        <p:txBody>
          <a:bodyPr wrap="square" anchor="t" lIns="38100" rIns="38100" tIns="12700" bIns="12700">
            <a:spAutoFit/>
          </a:bodyPr>
          <a:lstStyle/>
          <a:p>
            <a:pPr algn="l">
              <a:lnSpc>
                <a:spcPct val="110000"/>
              </a:lnSpc>
              <a:spcBef>
                <a:spcPts val="0"/>
              </a:spcBef>
              <a:spcAft>
                <a:spcPts val="400"/>
              </a:spcAft>
            </a:pPr>
            <a:r>
              <a:rPr sz="1400" b="1" i="0">
                <a:solidFill>
                  <a:srgbClr val="1EC87A"/>
                </a:solidFill>
                <a:latin typeface="Calibri"/>
              </a:rPr>
              <a:t>→  La solution : </a:t>
            </a:r>
            <a:r>
              <a:rPr sz="1400" b="0" i="0">
                <a:solidFill>
                  <a:srgbClr val="1A2430"/>
                </a:solidFill>
                <a:latin typeface="Calibri"/>
              </a:rPr>
              <a:t>un opérateur Kubernetes qui transforme ces décisions ad hoc</a:t>
            </a:r>
          </a:p>
          <a:p>
            <a:pPr algn="l">
              <a:lnSpc>
                <a:spcPct val="110000"/>
              </a:lnSpc>
              <a:spcBef>
                <a:spcPts val="0"/>
              </a:spcBef>
              <a:spcAft>
                <a:spcPts val="400"/>
              </a:spcAft>
            </a:pPr>
            <a:r>
              <a:rPr sz="1400" b="0" i="0">
                <a:solidFill>
                  <a:srgbClr val="1A2430"/>
                </a:solidFill>
                <a:latin typeface="Calibri"/>
              </a:rPr>
              <a:t>    en politiques versionnées, auditables et réconciliées en continu.</a:t>
            </a:r>
          </a:p>
        </p:txBody>
      </p:sp>
      <p:sp>
        <p:nvSpPr>
          <p:cNvPr id="21" name="TextBox 20"/>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COMMENT</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Plan de données (gateway) + Plan de contrôle (opérateur)</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3</a:t>
            </a:r>
          </a:p>
        </p:txBody>
      </p:sp>
      <p:sp>
        <p:nvSpPr>
          <p:cNvPr id="7" name="Rounded Rectangle 6"/>
          <p:cNvSpPr/>
          <p:nvPr/>
        </p:nvSpPr>
        <p:spPr>
          <a:xfrm>
            <a:off x="502920" y="1298448"/>
            <a:ext cx="11155680" cy="1325880"/>
          </a:xfrm>
          <a:prstGeom prst="roundRect">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9144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PLAN DE DONNÉES — Envoy AI Gateway</a:t>
            </a:r>
          </a:p>
        </p:txBody>
      </p:sp>
      <p:sp>
        <p:nvSpPr>
          <p:cNvPr id="9" name="Rounded Rectangle 8"/>
          <p:cNvSpPr/>
          <p:nvPr/>
        </p:nvSpPr>
        <p:spPr>
          <a:xfrm>
            <a:off x="841248" y="1737360"/>
            <a:ext cx="3291840" cy="804672"/>
          </a:xfrm>
          <a:prstGeom prst="roundRect">
            <a:avLst/>
          </a:prstGeom>
          <a:solidFill>
            <a:srgbClr val="FFFFFF"/>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783080"/>
            <a:ext cx="3108960" cy="731520"/>
          </a:xfrm>
          <a:prstGeom prst="rect">
            <a:avLst/>
          </a:prstGeom>
          <a:noFill/>
        </p:spPr>
        <p:txBody>
          <a:bodyPr wrap="square" anchor="t" lIns="38100" rIns="38100" tIns="12700" bIns="12700">
            <a:spAutoFit/>
          </a:bodyPr>
          <a:lstStyle/>
          <a:p>
            <a:pPr algn="l">
              <a:lnSpc>
                <a:spcPct val="105000"/>
              </a:lnSpc>
              <a:spcBef>
                <a:spcPts val="0"/>
              </a:spcBef>
              <a:spcAft>
                <a:spcPts val="400"/>
              </a:spcAft>
            </a:pPr>
            <a:r>
              <a:rPr sz="1100" b="0" i="0">
                <a:solidFill>
                  <a:srgbClr val="1A2430"/>
                </a:solidFill>
                <a:latin typeface="Calibri"/>
              </a:rPr>
              <a:t>Apps
rh · finance · legal · marketing</a:t>
            </a:r>
          </a:p>
        </p:txBody>
      </p:sp>
      <p:sp>
        <p:nvSpPr>
          <p:cNvPr id="11" name="TextBox 10"/>
          <p:cNvSpPr txBox="1"/>
          <p:nvPr/>
        </p:nvSpPr>
        <p:spPr>
          <a:xfrm>
            <a:off x="4133088" y="1993392"/>
            <a:ext cx="411480" cy="34747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800" b="1" i="0">
                <a:solidFill>
                  <a:srgbClr val="3B82F6"/>
                </a:solidFill>
                <a:latin typeface="Calibri"/>
              </a:rPr>
              <a:t>→</a:t>
            </a:r>
          </a:p>
        </p:txBody>
      </p:sp>
      <p:sp>
        <p:nvSpPr>
          <p:cNvPr id="12" name="Rounded Rectangle 11"/>
          <p:cNvSpPr/>
          <p:nvPr/>
        </p:nvSpPr>
        <p:spPr>
          <a:xfrm>
            <a:off x="4544568" y="1737360"/>
            <a:ext cx="3291840" cy="804672"/>
          </a:xfrm>
          <a:prstGeom prst="roundRect">
            <a:avLst/>
          </a:prstGeom>
          <a:solidFill>
            <a:srgbClr val="FFFFFF"/>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1783080"/>
            <a:ext cx="3108960" cy="731520"/>
          </a:xfrm>
          <a:prstGeom prst="rect">
            <a:avLst/>
          </a:prstGeom>
          <a:noFill/>
        </p:spPr>
        <p:txBody>
          <a:bodyPr wrap="square" anchor="t" lIns="38100" rIns="38100" tIns="12700" bIns="12700">
            <a:spAutoFit/>
          </a:bodyPr>
          <a:lstStyle/>
          <a:p>
            <a:pPr algn="l">
              <a:lnSpc>
                <a:spcPct val="105000"/>
              </a:lnSpc>
              <a:spcBef>
                <a:spcPts val="0"/>
              </a:spcBef>
              <a:spcAft>
                <a:spcPts val="400"/>
              </a:spcAft>
            </a:pPr>
            <a:r>
              <a:rPr sz="1100" b="0" i="0">
                <a:solidFill>
                  <a:srgbClr val="1A2430"/>
                </a:solidFill>
                <a:latin typeface="Calibri"/>
              </a:rPr>
              <a:t>Envoy AI Gateway
gpt-france-mini · gpt-us-mini
mistral-large-latest</a:t>
            </a:r>
          </a:p>
        </p:txBody>
      </p:sp>
      <p:sp>
        <p:nvSpPr>
          <p:cNvPr id="14" name="TextBox 13"/>
          <p:cNvSpPr txBox="1"/>
          <p:nvPr/>
        </p:nvSpPr>
        <p:spPr>
          <a:xfrm>
            <a:off x="7836408" y="1993392"/>
            <a:ext cx="411480" cy="34747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800" b="1" i="0">
                <a:solidFill>
                  <a:srgbClr val="3B82F6"/>
                </a:solidFill>
                <a:latin typeface="Calibri"/>
              </a:rPr>
              <a:t>→</a:t>
            </a:r>
          </a:p>
        </p:txBody>
      </p:sp>
      <p:sp>
        <p:nvSpPr>
          <p:cNvPr id="15" name="Rounded Rectangle 14"/>
          <p:cNvSpPr/>
          <p:nvPr/>
        </p:nvSpPr>
        <p:spPr>
          <a:xfrm>
            <a:off x="8247888" y="1737360"/>
            <a:ext cx="3291840" cy="804672"/>
          </a:xfrm>
          <a:prstGeom prst="roundRect">
            <a:avLst/>
          </a:prstGeom>
          <a:solidFill>
            <a:srgbClr val="FFFFFF"/>
          </a:solidFill>
          <a:ln w="15875">
            <a:solidFill>
              <a:srgbClr val="5B66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7616" y="1783080"/>
            <a:ext cx="3108960" cy="731520"/>
          </a:xfrm>
          <a:prstGeom prst="rect">
            <a:avLst/>
          </a:prstGeom>
          <a:noFill/>
        </p:spPr>
        <p:txBody>
          <a:bodyPr wrap="square" anchor="t" lIns="38100" rIns="38100" tIns="12700" bIns="12700">
            <a:spAutoFit/>
          </a:bodyPr>
          <a:lstStyle/>
          <a:p>
            <a:pPr algn="l">
              <a:lnSpc>
                <a:spcPct val="105000"/>
              </a:lnSpc>
              <a:spcBef>
                <a:spcPts val="0"/>
              </a:spcBef>
              <a:spcAft>
                <a:spcPts val="400"/>
              </a:spcAft>
            </a:pPr>
            <a:r>
              <a:rPr sz="1100" b="0" i="0">
                <a:solidFill>
                  <a:srgbClr val="1A2430"/>
                </a:solidFill>
                <a:latin typeface="Calibri"/>
              </a:rPr>
              <a:t>Providers
Azure OpenAI FR  (France ✅)
Azure OpenAI US  (US ❌)
Mistral EU        (EU ✅)</a:t>
            </a:r>
          </a:p>
        </p:txBody>
      </p:sp>
      <p:sp>
        <p:nvSpPr>
          <p:cNvPr id="17" name="TextBox 16"/>
          <p:cNvSpPr txBox="1"/>
          <p:nvPr/>
        </p:nvSpPr>
        <p:spPr>
          <a:xfrm>
            <a:off x="2743200" y="2679192"/>
            <a:ext cx="7315200" cy="27432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000" b="1" i="0">
                <a:solidFill>
                  <a:srgbClr val="3B82F6"/>
                </a:solidFill>
                <a:latin typeface="Calibri"/>
              </a:rPr>
              <a:t>gen_ai_client_token_usage  ·  gen_ai_server_request_duration  (OTel → Prometheus)</a:t>
            </a:r>
          </a:p>
        </p:txBody>
      </p:sp>
      <p:sp>
        <p:nvSpPr>
          <p:cNvPr id="18" name="Rounded Rectangle 17"/>
          <p:cNvSpPr/>
          <p:nvPr/>
        </p:nvSpPr>
        <p:spPr>
          <a:xfrm>
            <a:off x="502920" y="3063240"/>
            <a:ext cx="11155680" cy="19385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127248"/>
            <a:ext cx="9144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PLAN DE CONTRÔLE — Opérateur (11 CRDs · 23 métriques)</a:t>
            </a:r>
          </a:p>
        </p:txBody>
      </p:sp>
      <p:sp>
        <p:nvSpPr>
          <p:cNvPr id="20" name="Rounded Rectangle 19"/>
          <p:cNvSpPr/>
          <p:nvPr/>
        </p:nvSpPr>
        <p:spPr>
          <a:xfrm>
            <a:off x="749808" y="3520440"/>
            <a:ext cx="1719072" cy="749808"/>
          </a:xfrm>
          <a:prstGeom prst="roundRect">
            <a:avLst/>
          </a:prstGeom>
          <a:solidFill>
            <a:srgbClr val="1A2E4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547872"/>
            <a:ext cx="1627632" cy="6858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cost engine</a:t>
            </a:r>
          </a:p>
        </p:txBody>
      </p:sp>
      <p:sp>
        <p:nvSpPr>
          <p:cNvPr id="22" name="Rounded Rectangle 21"/>
          <p:cNvSpPr/>
          <p:nvPr/>
        </p:nvSpPr>
        <p:spPr>
          <a:xfrm>
            <a:off x="2542032" y="3520440"/>
            <a:ext cx="1719072" cy="749808"/>
          </a:xfrm>
          <a:prstGeom prst="roundRect">
            <a:avLst/>
          </a:prstGeom>
          <a:solidFill>
            <a:srgbClr val="1A2E4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15184" y="3547872"/>
            <a:ext cx="1627632" cy="6858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budget engine</a:t>
            </a:r>
          </a:p>
        </p:txBody>
      </p:sp>
      <p:sp>
        <p:nvSpPr>
          <p:cNvPr id="24" name="Rounded Rectangle 23"/>
          <p:cNvSpPr/>
          <p:nvPr/>
        </p:nvSpPr>
        <p:spPr>
          <a:xfrm>
            <a:off x="4334256" y="3520440"/>
            <a:ext cx="1719072" cy="749808"/>
          </a:xfrm>
          <a:prstGeom prst="roundRect">
            <a:avLst/>
          </a:prstGeom>
          <a:solidFill>
            <a:srgbClr val="1A2E4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408" y="3547872"/>
            <a:ext cx="1627632" cy="6858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sovereignty engine</a:t>
            </a:r>
          </a:p>
        </p:txBody>
      </p:sp>
      <p:sp>
        <p:nvSpPr>
          <p:cNvPr id="26" name="Rounded Rectangle 25"/>
          <p:cNvSpPr/>
          <p:nvPr/>
        </p:nvSpPr>
        <p:spPr>
          <a:xfrm>
            <a:off x="6126480" y="3520440"/>
            <a:ext cx="1719072" cy="749808"/>
          </a:xfrm>
          <a:prstGeom prst="roundRect">
            <a:avLst/>
          </a:prstGeom>
          <a:solidFill>
            <a:srgbClr val="1A2E4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632" y="3547872"/>
            <a:ext cx="1627632" cy="6858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routing score</a:t>
            </a:r>
          </a:p>
        </p:txBody>
      </p:sp>
      <p:sp>
        <p:nvSpPr>
          <p:cNvPr id="28" name="Rounded Rectangle 27"/>
          <p:cNvSpPr/>
          <p:nvPr/>
        </p:nvSpPr>
        <p:spPr>
          <a:xfrm>
            <a:off x="7918704" y="3520440"/>
            <a:ext cx="1719072" cy="749808"/>
          </a:xfrm>
          <a:prstGeom prst="roundRect">
            <a:avLst/>
          </a:prstGeom>
          <a:solidFill>
            <a:srgbClr val="1A2E4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6" y="3547872"/>
            <a:ext cx="1627632" cy="6858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shadow AI engine</a:t>
            </a:r>
          </a:p>
        </p:txBody>
      </p:sp>
      <p:sp>
        <p:nvSpPr>
          <p:cNvPr id="30" name="Rounded Rectangle 29"/>
          <p:cNvSpPr/>
          <p:nvPr/>
        </p:nvSpPr>
        <p:spPr>
          <a:xfrm>
            <a:off x="9710928" y="3520440"/>
            <a:ext cx="1719072" cy="749808"/>
          </a:xfrm>
          <a:prstGeom prst="roundRect">
            <a:avLst/>
          </a:prstGeom>
          <a:solidFill>
            <a:srgbClr val="1A2E4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84080" y="3547872"/>
            <a:ext cx="1627632" cy="6858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reco engine</a:t>
            </a:r>
          </a:p>
        </p:txBody>
      </p:sp>
      <p:sp>
        <p:nvSpPr>
          <p:cNvPr id="32" name="TextBox 31"/>
          <p:cNvSpPr txBox="1"/>
          <p:nvPr/>
        </p:nvSpPr>
        <p:spPr>
          <a:xfrm>
            <a:off x="685800" y="4434840"/>
            <a:ext cx="1078992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B8C6D4"/>
                </a:solidFill>
                <a:latin typeface="Calibri"/>
              </a:rPr>
              <a:t>.status CRDs  ·  23 métriques ai_finops_*  ·  Grafana radar 5D</a:t>
            </a:r>
          </a:p>
        </p:txBody>
      </p:sp>
      <p:sp>
        <p:nvSpPr>
          <p:cNvPr id="33" name="Rounded Rectangle 32"/>
          <p:cNvSpPr/>
          <p:nvPr/>
        </p:nvSpPr>
        <p:spPr>
          <a:xfrm>
            <a:off x="502920" y="4919472"/>
            <a:ext cx="11155680" cy="1170432"/>
          </a:xfrm>
          <a:prstGeom prst="roundRect">
            <a:avLst/>
          </a:prstGeom>
          <a:solidFill>
            <a:srgbClr val="E9F8F1"/>
          </a:solidFill>
          <a:ln w="15875">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029200"/>
            <a:ext cx="10972800" cy="100584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250" b="0" i="0">
                <a:solidFill>
                  <a:srgbClr val="1A2430"/>
                </a:solidFill>
                <a:latin typeface="Calibri"/>
              </a:rPr>
              <a:t>▸  Tetragon / eBPF — détecte les appels LLM hors gateway (Shadow AI) au niveau noyau</a:t>
            </a:r>
          </a:p>
          <a:p>
            <a:pPr algn="l">
              <a:lnSpc>
                <a:spcPct val="125000"/>
              </a:lnSpc>
              <a:spcBef>
                <a:spcPts val="0"/>
              </a:spcBef>
              <a:spcAft>
                <a:spcPts val="600"/>
              </a:spcAft>
            </a:pPr>
            <a:r>
              <a:rPr sz="1250" b="0" i="0">
                <a:solidFill>
                  <a:srgbClr val="1A2430"/>
                </a:solidFill>
                <a:latin typeface="Calibri"/>
              </a:rPr>
              <a:t>▸  Reconciliation toutes les 30s — .status mis à jour en temps réel sur chaque CRD</a:t>
            </a:r>
          </a:p>
        </p:txBody>
      </p:sp>
      <p:sp>
        <p:nvSpPr>
          <p:cNvPr id="35" name="TextBox 34"/>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1</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Attribution du coût LLM par équipe et application</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4</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Facture globale — impossible d'imputer par équipe</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Sidecar injecte x-greenops-namespace automatiquement</a:t>
            </a:r>
          </a:p>
          <a:p>
            <a:pPr algn="l">
              <a:lnSpc>
                <a:spcPct val="125000"/>
              </a:lnSpc>
              <a:spcBef>
                <a:spcPts val="0"/>
              </a:spcBef>
              <a:spcAft>
                <a:spcPts val="600"/>
              </a:spcAft>
            </a:pPr>
            <a:r>
              <a:rPr sz="1350" b="0" i="0">
                <a:solidFill>
                  <a:srgbClr val="1A2430"/>
                </a:solidFill>
                <a:latin typeface="Calibri"/>
              </a:rPr>
              <a:t>▸  Gateway tag les métriques par namespace / app</a:t>
            </a:r>
          </a:p>
          <a:p>
            <a:pPr algn="l">
              <a:lnSpc>
                <a:spcPct val="125000"/>
              </a:lnSpc>
              <a:spcBef>
                <a:spcPts val="0"/>
              </a:spcBef>
              <a:spcAft>
                <a:spcPts val="600"/>
              </a:spcAft>
            </a:pPr>
            <a:r>
              <a:rPr sz="1350" b="0" i="0">
                <a:solidFill>
                  <a:srgbClr val="1A2430"/>
                </a:solidFill>
                <a:latin typeface="Calibri"/>
              </a:rPr>
              <a:t>▸  Tokens réels × prix liste Azure → coût EUR</a:t>
            </a:r>
          </a:p>
          <a:p>
            <a:pPr algn="l">
              <a:lnSpc>
                <a:spcPct val="125000"/>
              </a:lnSpc>
              <a:spcBef>
                <a:spcPts val="0"/>
              </a:spcBef>
              <a:spcAft>
                <a:spcPts val="600"/>
              </a:spcAft>
            </a:pPr>
            <a:r>
              <a:rPr sz="1350" b="0" i="0">
                <a:solidFill>
                  <a:srgbClr val="1A2430"/>
                </a:solidFill>
                <a:latin typeface="Calibri"/>
              </a:rPr>
              <a:t>▸  AIFinOpsReport : coût observé + projeté</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Chargeback exact par équipe dès J+1</a:t>
            </a:r>
          </a:p>
          <a:p>
            <a:pPr algn="l">
              <a:lnSpc>
                <a:spcPct val="125000"/>
              </a:lnSpc>
              <a:spcBef>
                <a:spcPts val="0"/>
              </a:spcBef>
              <a:spcAft>
                <a:spcPts val="600"/>
              </a:spcAft>
            </a:pPr>
            <a:r>
              <a:rPr sz="1350" b="0" i="0">
                <a:solidFill>
                  <a:srgbClr val="1A2430"/>
                </a:solidFill>
                <a:latin typeface="Calibri"/>
              </a:rPr>
              <a:t>▸  Identification des top consommateurs</a:t>
            </a:r>
          </a:p>
          <a:p>
            <a:pPr algn="l">
              <a:lnSpc>
                <a:spcPct val="125000"/>
              </a:lnSpc>
              <a:spcBef>
                <a:spcPts val="0"/>
              </a:spcBef>
              <a:spcAft>
                <a:spcPts val="600"/>
              </a:spcAft>
            </a:pPr>
            <a:r>
              <a:rPr sz="1350" b="0" i="0">
                <a:solidFill>
                  <a:srgbClr val="1A2430"/>
                </a:solidFill>
                <a:latin typeface="Calibri"/>
              </a:rPr>
              <a:t>▸  Base chiffrée pour arbitrage Make vs Buy</a:t>
            </a:r>
          </a:p>
          <a:p>
            <a:pPr algn="l">
              <a:lnSpc>
                <a:spcPct val="125000"/>
              </a:lnSpc>
              <a:spcBef>
                <a:spcPts val="0"/>
              </a:spcBef>
              <a:spcAft>
                <a:spcPts val="600"/>
              </a:spcAft>
            </a:pPr>
            <a:r>
              <a:rPr sz="1350" b="0" i="0">
                <a:solidFill>
                  <a:srgbClr val="1A2430"/>
                </a:solidFill>
                <a:latin typeface="Calibri"/>
              </a:rPr>
              <a:t>▸  Rapport généré automatiquement</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ai_finops_cost_eur{namespace, application, model}  ·  ai_finops_projected_monthly_cost_eur</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2</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Budget mensuel avec enforcement automatique</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5</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Budget IA dépassé sans alerte, sans frein</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AIBudgetPolicy : budgetEUR + seuils warning/critical</a:t>
            </a:r>
          </a:p>
          <a:p>
            <a:pPr algn="l">
              <a:lnSpc>
                <a:spcPct val="125000"/>
              </a:lnSpc>
              <a:spcBef>
                <a:spcPts val="0"/>
              </a:spcBef>
              <a:spcAft>
                <a:spcPts val="600"/>
              </a:spcAft>
            </a:pPr>
            <a:r>
              <a:rPr sz="1350" b="0" i="0">
                <a:solidFill>
                  <a:srgbClr val="1A2430"/>
                </a:solidFill>
                <a:latin typeface="Calibri"/>
              </a:rPr>
              <a:t>▸  Projection mensuelle en run-rate continu</a:t>
            </a:r>
          </a:p>
          <a:p>
            <a:pPr algn="l">
              <a:lnSpc>
                <a:spcPct val="125000"/>
              </a:lnSpc>
              <a:spcBef>
                <a:spcPts val="0"/>
              </a:spcBef>
              <a:spcAft>
                <a:spcPts val="600"/>
              </a:spcAft>
            </a:pPr>
            <a:r>
              <a:rPr sz="1350" b="0" i="0">
                <a:solidFill>
                  <a:srgbClr val="1A2430"/>
                </a:solidFill>
                <a:latin typeface="Calibri"/>
              </a:rPr>
              <a:t>▸  Phases : WithinBudget → Warning → Critical → Exceeded</a:t>
            </a:r>
          </a:p>
          <a:p>
            <a:pPr algn="l">
              <a:lnSpc>
                <a:spcPct val="125000"/>
              </a:lnSpc>
              <a:spcBef>
                <a:spcPts val="0"/>
              </a:spcBef>
              <a:spcAft>
                <a:spcPts val="600"/>
              </a:spcAft>
            </a:pPr>
            <a:r>
              <a:rPr sz="1350" b="0" i="0">
                <a:solidFill>
                  <a:srgbClr val="1A2430"/>
                </a:solidFill>
                <a:latin typeface="Calibri"/>
              </a:rPr>
              <a:t>▸  enforce : blockOrRequireApproval</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Alerte avant le dépassement, pas après</a:t>
            </a:r>
          </a:p>
          <a:p>
            <a:pPr algn="l">
              <a:lnSpc>
                <a:spcPct val="125000"/>
              </a:lnSpc>
              <a:spcBef>
                <a:spcPts val="0"/>
              </a:spcBef>
              <a:spcAft>
                <a:spcPts val="600"/>
              </a:spcAft>
            </a:pPr>
            <a:r>
              <a:rPr sz="1350" b="0" i="0">
                <a:solidFill>
                  <a:srgbClr val="1A2430"/>
                </a:solidFill>
                <a:latin typeface="Calibri"/>
              </a:rPr>
              <a:t>▸  Blocage automatique ou approbation humaine</a:t>
            </a:r>
          </a:p>
          <a:p>
            <a:pPr algn="l">
              <a:lnSpc>
                <a:spcPct val="125000"/>
              </a:lnSpc>
              <a:spcBef>
                <a:spcPts val="0"/>
              </a:spcBef>
              <a:spcAft>
                <a:spcPts val="600"/>
              </a:spcAft>
            </a:pPr>
            <a:r>
              <a:rPr sz="1350" b="0" i="0">
                <a:solidFill>
                  <a:srgbClr val="1A2430"/>
                </a:solidFill>
                <a:latin typeface="Calibri"/>
              </a:rPr>
              <a:t>▸  Demo live : finance → phase Critical</a:t>
            </a:r>
          </a:p>
          <a:p>
            <a:pPr algn="l">
              <a:lnSpc>
                <a:spcPct val="125000"/>
              </a:lnSpc>
              <a:spcBef>
                <a:spcPts val="0"/>
              </a:spcBef>
              <a:spcAft>
                <a:spcPts val="600"/>
              </a:spcAft>
            </a:pPr>
            <a:r>
              <a:rPr sz="1350" b="0" i="0">
                <a:solidFill>
                  <a:srgbClr val="1A2430"/>
                </a:solidFill>
                <a:latin typeface="Calibri"/>
              </a:rPr>
              <a:t>▸  Audit trail : qui a dépassé, quand, combien</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ai_finops_budget_usage_percent{namespace, application}  ·  ai_finops_projected_monthly_cost_eur</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3</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Contrôle de souveraineté : FR ✅  EU ✅  US ❌</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6</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RGPD &amp; AI Act non vérifiés en production</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AISovereigntyPolicy : allowedZones=[FR, EU]</a:t>
            </a:r>
          </a:p>
          <a:p>
            <a:pPr algn="l">
              <a:lnSpc>
                <a:spcPct val="125000"/>
              </a:lnSpc>
              <a:spcBef>
                <a:spcPts val="0"/>
              </a:spcBef>
              <a:spcAft>
                <a:spcPts val="600"/>
              </a:spcAft>
            </a:pPr>
            <a:r>
              <a:rPr sz="1350" b="0" i="0">
                <a:solidFill>
                  <a:srgbClr val="1A2430"/>
                </a:solidFill>
                <a:latin typeface="Calibri"/>
              </a:rPr>
              <a:t>▸  Chaque AIProvider porte sa zone réelle</a:t>
            </a:r>
          </a:p>
          <a:p>
            <a:pPr algn="l">
              <a:lnSpc>
                <a:spcPct val="125000"/>
              </a:lnSpc>
              <a:spcBef>
                <a:spcPts val="0"/>
              </a:spcBef>
              <a:spcAft>
                <a:spcPts val="600"/>
              </a:spcAft>
            </a:pPr>
            <a:r>
              <a:rPr sz="1350" b="0" i="0">
                <a:solidFill>
                  <a:srgbClr val="1A2430"/>
                </a:solidFill>
                <a:latin typeface="Calibri"/>
              </a:rPr>
              <a:t>▸  3 zones en demo : France · EU · US</a:t>
            </a:r>
          </a:p>
          <a:p>
            <a:pPr algn="l">
              <a:lnSpc>
                <a:spcPct val="125000"/>
              </a:lnSpc>
              <a:spcBef>
                <a:spcPts val="0"/>
              </a:spcBef>
              <a:spcAft>
                <a:spcPts val="600"/>
              </a:spcAft>
            </a:pPr>
            <a:r>
              <a:rPr sz="1350" b="0" i="0">
                <a:solidFill>
                  <a:srgbClr val="1A2430"/>
                </a:solidFill>
                <a:latin typeface="Calibri"/>
              </a:rPr>
              <a:t>▸  Modes : reportOnly → warn → enforce</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Azure OpenAI France (FR) → ✅ conforme</a:t>
            </a:r>
          </a:p>
          <a:p>
            <a:pPr algn="l">
              <a:lnSpc>
                <a:spcPct val="125000"/>
              </a:lnSpc>
              <a:spcBef>
                <a:spcPts val="0"/>
              </a:spcBef>
              <a:spcAft>
                <a:spcPts val="600"/>
              </a:spcAft>
            </a:pPr>
            <a:r>
              <a:rPr sz="1350" b="0" i="0">
                <a:solidFill>
                  <a:srgbClr val="1A2430"/>
                </a:solidFill>
                <a:latin typeface="Calibri"/>
              </a:rPr>
              <a:t>▸  Mistral EU Foundry (EU) → ✅ conforme</a:t>
            </a:r>
          </a:p>
          <a:p>
            <a:pPr algn="l">
              <a:lnSpc>
                <a:spcPct val="125000"/>
              </a:lnSpc>
              <a:spcBef>
                <a:spcPts val="0"/>
              </a:spcBef>
              <a:spcAft>
                <a:spcPts val="600"/>
              </a:spcAft>
            </a:pPr>
            <a:r>
              <a:rPr sz="1350" b="0" i="0">
                <a:solidFill>
                  <a:srgbClr val="1A2430"/>
                </a:solidFill>
                <a:latin typeface="Calibri"/>
              </a:rPr>
              <a:t>▸  Azure OpenAI US (US) → ❌ violation critique</a:t>
            </a:r>
          </a:p>
          <a:p>
            <a:pPr algn="l">
              <a:lnSpc>
                <a:spcPct val="125000"/>
              </a:lnSpc>
              <a:spcBef>
                <a:spcPts val="0"/>
              </a:spcBef>
              <a:spcAft>
                <a:spcPts val="600"/>
              </a:spcAft>
            </a:pPr>
            <a:r>
              <a:rPr sz="1350" b="0" i="0">
                <a:solidFill>
                  <a:srgbClr val="1A2430"/>
                </a:solidFill>
                <a:latin typeface="Calibri"/>
              </a:rPr>
              <a:t>▸  Findings exportés · audit trail complet</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ai_finops_sovereignty_findings{namespace, application, severity}  ·  ai_finops_cost_by_zone_eur{zone}</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4</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Routing Score 5D — radar Grafana en temps réel</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7</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Choix du modèle LLM : intuitif, non outillé</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5 scores 0→1 : coût · qualité · latence · fiabilité · souveraineté</a:t>
            </a:r>
          </a:p>
          <a:p>
            <a:pPr algn="l">
              <a:lnSpc>
                <a:spcPct val="125000"/>
              </a:lnSpc>
              <a:spcBef>
                <a:spcPts val="0"/>
              </a:spcBef>
              <a:spcAft>
                <a:spcPts val="600"/>
              </a:spcAft>
            </a:pPr>
            <a:r>
              <a:rPr sz="1350" b="0" i="0">
                <a:solidFill>
                  <a:srgbClr val="1A2430"/>
                </a:solidFill>
                <a:latin typeface="Calibri"/>
              </a:rPr>
              <a:t>▸  RoutingScore = 0.40×coût + 0.30×qualité + 0.20×latence + 0.10×fiabilité</a:t>
            </a:r>
          </a:p>
          <a:p>
            <a:pPr algn="l">
              <a:lnSpc>
                <a:spcPct val="125000"/>
              </a:lnSpc>
              <a:spcBef>
                <a:spcPts val="0"/>
              </a:spcBef>
              <a:spcAft>
                <a:spcPts val="600"/>
              </a:spcAft>
            </a:pPr>
            <a:r>
              <a:rPr sz="1350" b="0" i="0">
                <a:solidFill>
                  <a:srgbClr val="1A2430"/>
                </a:solidFill>
                <a:latin typeface="Calibri"/>
              </a:rPr>
              <a:t>▸  Souveraineté = gate dur : score=0 si zone interdite</a:t>
            </a:r>
          </a:p>
          <a:p>
            <a:pPr algn="l">
              <a:lnSpc>
                <a:spcPct val="125000"/>
              </a:lnSpc>
              <a:spcBef>
                <a:spcPts val="0"/>
              </a:spcBef>
              <a:spcAft>
                <a:spcPts val="600"/>
              </a:spcAft>
            </a:pPr>
            <a:r>
              <a:rPr sz="1350" b="0" i="0">
                <a:solidFill>
                  <a:srgbClr val="1A2430"/>
                </a:solidFill>
                <a:latin typeface="Calibri"/>
              </a:rPr>
              <a:t>▸  Radar Grafana 5D mis à jour en continu</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Décision fondée sur 5 critères simultanément</a:t>
            </a:r>
          </a:p>
          <a:p>
            <a:pPr algn="l">
              <a:lnSpc>
                <a:spcPct val="125000"/>
              </a:lnSpc>
              <a:spcBef>
                <a:spcPts val="0"/>
              </a:spcBef>
              <a:spcAft>
                <a:spcPts val="600"/>
              </a:spcAft>
            </a:pPr>
            <a:r>
              <a:rPr sz="1350" b="0" i="0">
                <a:solidFill>
                  <a:srgbClr val="1A2430"/>
                </a:solidFill>
                <a:latin typeface="Calibri"/>
              </a:rPr>
              <a:t>▸  Visualisation radar : profil instantané par modèle</a:t>
            </a:r>
          </a:p>
          <a:p>
            <a:pPr algn="l">
              <a:lnSpc>
                <a:spcPct val="125000"/>
              </a:lnSpc>
              <a:spcBef>
                <a:spcPts val="0"/>
              </a:spcBef>
              <a:spcAft>
                <a:spcPts val="600"/>
              </a:spcAft>
            </a:pPr>
            <a:r>
              <a:rPr sz="1350" b="0" i="0">
                <a:solidFill>
                  <a:srgbClr val="1A2430"/>
                </a:solidFill>
                <a:latin typeface="Calibri"/>
              </a:rPr>
              <a:t>▸  Recommandation auto : Mistral EU &gt; OpenAI US</a:t>
            </a:r>
          </a:p>
          <a:p>
            <a:pPr algn="l">
              <a:lnSpc>
                <a:spcPct val="125000"/>
              </a:lnSpc>
              <a:spcBef>
                <a:spcPts val="0"/>
              </a:spcBef>
              <a:spcAft>
                <a:spcPts val="600"/>
              </a:spcAft>
            </a:pPr>
            <a:r>
              <a:rPr sz="1350" b="0" i="0">
                <a:solidFill>
                  <a:srgbClr val="1A2430"/>
                </a:solidFill>
                <a:latin typeface="Calibri"/>
              </a:rPr>
              <a:t>▸  Aucun modèle non-souverain ne peut scorer &gt;0</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ai_finops_routing_score · ai_finops_cost_score · ai_finops_quality_score · ai_finops_latency_score · ai_finops_sovereignty_score</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5</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Shadow AI — détection eBPF sans code change</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8</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Appels LLM directs hors gateway — invisibles</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Tetragon DaemonSet : observe tcp_connect:443 au niveau noyau</a:t>
            </a:r>
          </a:p>
          <a:p>
            <a:pPr algn="l">
              <a:lnSpc>
                <a:spcPct val="125000"/>
              </a:lnSpc>
              <a:spcBef>
                <a:spcPts val="0"/>
              </a:spcBef>
              <a:spcAft>
                <a:spcPts val="600"/>
              </a:spcAft>
            </a:pPr>
            <a:r>
              <a:rPr sz="1350" b="0" i="0">
                <a:solidFill>
                  <a:srgbClr val="1A2430"/>
                </a:solidFill>
                <a:latin typeface="Calibri"/>
              </a:rPr>
              <a:t>▸  Hôtes LLM connus : api.openai.com · anthropic.com · etc.</a:t>
            </a:r>
          </a:p>
          <a:p>
            <a:pPr algn="l">
              <a:lnSpc>
                <a:spcPct val="125000"/>
              </a:lnSpc>
              <a:spcBef>
                <a:spcPts val="0"/>
              </a:spcBef>
              <a:spcAft>
                <a:spcPts val="600"/>
              </a:spcAft>
            </a:pPr>
            <a:r>
              <a:rPr sz="1350" b="0" i="0">
                <a:solidFill>
                  <a:srgbClr val="1A2430"/>
                </a:solidFill>
                <a:latin typeface="Calibri"/>
              </a:rPr>
              <a:t>▸  Connexion capturée → shadow_ai_egress mis à jour</a:t>
            </a:r>
          </a:p>
          <a:p>
            <a:pPr algn="l">
              <a:lnSpc>
                <a:spcPct val="125000"/>
              </a:lnSpc>
              <a:spcBef>
                <a:spcPts val="0"/>
              </a:spcBef>
              <a:spcAft>
                <a:spcPts val="600"/>
              </a:spcAft>
            </a:pPr>
            <a:r>
              <a:rPr sz="1350" b="0" i="0">
                <a:solidFill>
                  <a:srgbClr val="1A2430"/>
                </a:solidFill>
                <a:latin typeface="Calibri"/>
              </a:rPr>
              <a:t>▸  Opérateur classe severity=critical (zone US hors gateway)</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Détection &lt; 30 secondes sans changer le code</a:t>
            </a:r>
          </a:p>
          <a:p>
            <a:pPr algn="l">
              <a:lnSpc>
                <a:spcPct val="125000"/>
              </a:lnSpc>
              <a:spcBef>
                <a:spcPts val="0"/>
              </a:spcBef>
              <a:spcAft>
                <a:spcPts val="600"/>
              </a:spcAft>
            </a:pPr>
            <a:r>
              <a:rPr sz="1350" b="0" i="0">
                <a:solidFill>
                  <a:srgbClr val="1A2430"/>
                </a:solidFill>
                <a:latin typeface="Calibri"/>
              </a:rPr>
              <a:t>▸  Demo live : finance/shadow-ai-rogue détecté</a:t>
            </a:r>
          </a:p>
          <a:p>
            <a:pPr algn="l">
              <a:lnSpc>
                <a:spcPct val="125000"/>
              </a:lnSpc>
              <a:spcBef>
                <a:spcPts val="0"/>
              </a:spcBef>
              <a:spcAft>
                <a:spcPts val="600"/>
              </a:spcAft>
            </a:pPr>
            <a:r>
              <a:rPr sz="1350" b="0" i="0">
                <a:solidFill>
                  <a:srgbClr val="1A2430"/>
                </a:solidFill>
                <a:latin typeface="Calibri"/>
              </a:rPr>
              <a:t>▸  Panel Grafana : quelle app, quel host, combien</a:t>
            </a:r>
          </a:p>
          <a:p>
            <a:pPr algn="l">
              <a:lnSpc>
                <a:spcPct val="125000"/>
              </a:lnSpc>
              <a:spcBef>
                <a:spcPts val="0"/>
              </a:spcBef>
              <a:spcAft>
                <a:spcPts val="600"/>
              </a:spcAft>
            </a:pPr>
            <a:r>
              <a:rPr sz="1350" b="0" i="0">
                <a:solidFill>
                  <a:srgbClr val="1A2430"/>
                </a:solidFill>
                <a:latin typeface="Calibri"/>
              </a:rPr>
              <a:t>▸  Pas besoin de modifier les applications</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ai_finops_shadow_ai_egress{namespace, application, host}</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6</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AIChangeRequest — approbation humaine avant rerouting</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9</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Opérateur qui agit seul en prod : risque perçu</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AIChangeRequest : demande déclarative de changement</a:t>
            </a:r>
          </a:p>
          <a:p>
            <a:pPr algn="l">
              <a:lnSpc>
                <a:spcPct val="125000"/>
              </a:lnSpc>
              <a:spcBef>
                <a:spcPts val="0"/>
              </a:spcBef>
              <a:spcAft>
                <a:spcPts val="600"/>
              </a:spcAft>
            </a:pPr>
            <a:r>
              <a:rPr sz="1350" b="0" i="0">
                <a:solidFill>
                  <a:srgbClr val="1A2430"/>
                </a:solidFill>
                <a:latin typeface="Calibri"/>
              </a:rPr>
              <a:t>▸  Cycle : Pending → Approved → Actuated</a:t>
            </a:r>
          </a:p>
          <a:p>
            <a:pPr algn="l">
              <a:lnSpc>
                <a:spcPct val="125000"/>
              </a:lnSpc>
              <a:spcBef>
                <a:spcPts val="0"/>
              </a:spcBef>
              <a:spcAft>
                <a:spcPts val="600"/>
              </a:spcAft>
            </a:pPr>
            <a:r>
              <a:rPr sz="1350" b="0" i="0">
                <a:solidFill>
                  <a:srgbClr val="1A2430"/>
                </a:solidFill>
                <a:latin typeface="Calibri"/>
              </a:rPr>
              <a:t>▸  Actuation uniquement sur approbation explicite</a:t>
            </a:r>
          </a:p>
          <a:p>
            <a:pPr algn="l">
              <a:lnSpc>
                <a:spcPct val="125000"/>
              </a:lnSpc>
              <a:spcBef>
                <a:spcPts val="0"/>
              </a:spcBef>
              <a:spcAft>
                <a:spcPts val="600"/>
              </a:spcAft>
            </a:pPr>
            <a:r>
              <a:rPr sz="1350" b="0" i="0">
                <a:solidFill>
                  <a:srgbClr val="1A2430"/>
                </a:solidFill>
                <a:latin typeface="Calibri"/>
              </a:rPr>
              <a:t>▸  Rejected / Expired si délai dépassé</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Circuit d'approbation SOC 2 / ISO 27001</a:t>
            </a:r>
          </a:p>
          <a:p>
            <a:pPr algn="l">
              <a:lnSpc>
                <a:spcPct val="125000"/>
              </a:lnSpc>
              <a:spcBef>
                <a:spcPts val="0"/>
              </a:spcBef>
              <a:spcAft>
                <a:spcPts val="600"/>
              </a:spcAft>
            </a:pPr>
            <a:r>
              <a:rPr sz="1350" b="0" i="0">
                <a:solidFill>
                  <a:srgbClr val="1A2430"/>
                </a:solidFill>
                <a:latin typeface="Calibri"/>
              </a:rPr>
              <a:t>▸  Audit trail : qui · quoi · quand · pourquoi</a:t>
            </a:r>
          </a:p>
          <a:p>
            <a:pPr algn="l">
              <a:lnSpc>
                <a:spcPct val="125000"/>
              </a:lnSpc>
              <a:spcBef>
                <a:spcPts val="0"/>
              </a:spcBef>
              <a:spcAft>
                <a:spcPts val="600"/>
              </a:spcAft>
            </a:pPr>
            <a:r>
              <a:rPr sz="1350" b="0" i="0">
                <a:solidFill>
                  <a:srgbClr val="1A2430"/>
                </a:solidFill>
                <a:latin typeface="Calibri"/>
              </a:rPr>
              <a:t>▸  GitOps : la demande est versionnée dans git</a:t>
            </a:r>
          </a:p>
          <a:p>
            <a:pPr algn="l">
              <a:lnSpc>
                <a:spcPct val="125000"/>
              </a:lnSpc>
              <a:spcBef>
                <a:spcPts val="0"/>
              </a:spcBef>
              <a:spcAft>
                <a:spcPts val="600"/>
              </a:spcAft>
            </a:pPr>
            <a:r>
              <a:rPr sz="1350" b="0" i="0">
                <a:solidFill>
                  <a:srgbClr val="1A2430"/>
                </a:solidFill>
                <a:latin typeface="Calibri"/>
              </a:rPr>
              <a:t>▸  Compatible secteurs régulés : banque · santé</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kubectl get aichangerequest  |  .status.phase: Pending|Approved|Actuated|Rejected</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7</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Routage déclaratif : canary 80/20 et reroute immédiat</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10</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Modifier le routage LLM = intervention manuelle risquée</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AIRoutingPolicy : règles déclaratives avec poids</a:t>
            </a:r>
          </a:p>
          <a:p>
            <a:pPr algn="l">
              <a:lnSpc>
                <a:spcPct val="125000"/>
              </a:lnSpc>
              <a:spcBef>
                <a:spcPts val="0"/>
              </a:spcBef>
              <a:spcAft>
                <a:spcPts val="600"/>
              </a:spcAft>
            </a:pPr>
            <a:r>
              <a:rPr sz="1350" b="0" i="0">
                <a:solidFill>
                  <a:srgbClr val="1A2430"/>
                </a:solidFill>
                <a:latin typeface="Calibri"/>
              </a:rPr>
              <a:t>▸  Canary : 80% gpt-france-mini / 20% mistral-large</a:t>
            </a:r>
          </a:p>
          <a:p>
            <a:pPr algn="l">
              <a:lnSpc>
                <a:spcPct val="125000"/>
              </a:lnSpc>
              <a:spcBef>
                <a:spcPts val="0"/>
              </a:spcBef>
              <a:spcAft>
                <a:spcPts val="600"/>
              </a:spcAft>
            </a:pPr>
            <a:r>
              <a:rPr sz="1350" b="0" i="0">
                <a:solidFill>
                  <a:srgbClr val="1A2430"/>
                </a:solidFill>
                <a:latin typeface="Calibri"/>
              </a:rPr>
              <a:t>▸  AIRouteOverride : reroute immédiat et temporaire</a:t>
            </a:r>
          </a:p>
          <a:p>
            <a:pPr algn="l">
              <a:lnSpc>
                <a:spcPct val="125000"/>
              </a:lnSpc>
              <a:spcBef>
                <a:spcPts val="0"/>
              </a:spcBef>
              <a:spcAft>
                <a:spcPts val="600"/>
              </a:spcAft>
            </a:pPr>
            <a:r>
              <a:rPr sz="1350" b="0" i="0">
                <a:solidFill>
                  <a:srgbClr val="1A2430"/>
                </a:solidFill>
                <a:latin typeface="Calibri"/>
              </a:rPr>
              <a:t>▸  Révocation : kubectl delete → retour automatique</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Zero-downtime routing — sans redémarrage gateway</a:t>
            </a:r>
          </a:p>
          <a:p>
            <a:pPr algn="l">
              <a:lnSpc>
                <a:spcPct val="125000"/>
              </a:lnSpc>
              <a:spcBef>
                <a:spcPts val="0"/>
              </a:spcBef>
              <a:spcAft>
                <a:spcPts val="600"/>
              </a:spcAft>
            </a:pPr>
            <a:r>
              <a:rPr sz="1350" b="0" i="0">
                <a:solidFill>
                  <a:srgbClr val="1A2430"/>
                </a:solidFill>
                <a:latin typeface="Calibri"/>
              </a:rPr>
              <a:t>▸  Rollback en 10 secondes</a:t>
            </a:r>
          </a:p>
          <a:p>
            <a:pPr algn="l">
              <a:lnSpc>
                <a:spcPct val="125000"/>
              </a:lnSpc>
              <a:spcBef>
                <a:spcPts val="0"/>
              </a:spcBef>
              <a:spcAft>
                <a:spcPts val="600"/>
              </a:spcAft>
            </a:pPr>
            <a:r>
              <a:rPr sz="1350" b="0" i="0">
                <a:solidFill>
                  <a:srgbClr val="1A2430"/>
                </a:solidFill>
                <a:latin typeface="Calibri"/>
              </a:rPr>
              <a:t>▸  A/B testing modèles sans toucher au code</a:t>
            </a:r>
          </a:p>
          <a:p>
            <a:pPr algn="l">
              <a:lnSpc>
                <a:spcPct val="125000"/>
              </a:lnSpc>
              <a:spcBef>
                <a:spcPts val="0"/>
              </a:spcBef>
              <a:spcAft>
                <a:spcPts val="600"/>
              </a:spcAft>
            </a:pPr>
            <a:r>
              <a:rPr sz="1350" b="0" i="0">
                <a:solidFill>
                  <a:srgbClr val="1A2430"/>
                </a:solidFill>
                <a:latin typeface="Calibri"/>
              </a:rPr>
              <a:t>▸  TTL configurable : override auto-expirant</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kubectl get airoutingpolicy · kubectl get airouteoverride  |  .status.active</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8</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AIQualityGate — bloquer les modèles sous seuil</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11</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Modèle moins cher = dégradation silencieuse de qualité</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AIQualityGate : qualityTier minimum requis</a:t>
            </a:r>
          </a:p>
          <a:p>
            <a:pPr algn="l">
              <a:lnSpc>
                <a:spcPct val="125000"/>
              </a:lnSpc>
              <a:spcBef>
                <a:spcPts val="0"/>
              </a:spcBef>
              <a:spcAft>
                <a:spcPts val="600"/>
              </a:spcAft>
            </a:pPr>
            <a:r>
              <a:rPr sz="1350" b="0" i="0">
                <a:solidFill>
                  <a:srgbClr val="1A2430"/>
                </a:solidFill>
                <a:latin typeface="Calibri"/>
              </a:rPr>
              <a:t>▸  Tiers : low · medium · high · premium</a:t>
            </a:r>
          </a:p>
          <a:p>
            <a:pPr algn="l">
              <a:lnSpc>
                <a:spcPct val="125000"/>
              </a:lnSpc>
              <a:spcBef>
                <a:spcPts val="0"/>
              </a:spcBef>
              <a:spcAft>
                <a:spcPts val="600"/>
              </a:spcAft>
            </a:pPr>
            <a:r>
              <a:rPr sz="1350" b="0" i="0">
                <a:solidFill>
                  <a:srgbClr val="1A2430"/>
                </a:solidFill>
                <a:latin typeface="Calibri"/>
              </a:rPr>
              <a:t>▸  Violation si modèle sélectionné &lt; seuil</a:t>
            </a:r>
          </a:p>
          <a:p>
            <a:pPr algn="l">
              <a:lnSpc>
                <a:spcPct val="125000"/>
              </a:lnSpc>
              <a:spcBef>
                <a:spcPts val="0"/>
              </a:spcBef>
              <a:spcAft>
                <a:spcPts val="600"/>
              </a:spcAft>
            </a:pPr>
            <a:r>
              <a:rPr sz="1350" b="0" i="0">
                <a:solidFill>
                  <a:srgbClr val="1A2430"/>
                </a:solidFill>
                <a:latin typeface="Calibri"/>
              </a:rPr>
              <a:t>▸  Intégré au routing score (dimension quality)</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Garantie contractuelle de qualité par app</a:t>
            </a:r>
          </a:p>
          <a:p>
            <a:pPr algn="l">
              <a:lnSpc>
                <a:spcPct val="125000"/>
              </a:lnSpc>
              <a:spcBef>
                <a:spcPts val="0"/>
              </a:spcBef>
              <a:spcAft>
                <a:spcPts val="600"/>
              </a:spcAft>
            </a:pPr>
            <a:r>
              <a:rPr sz="1350" b="0" i="0">
                <a:solidFill>
                  <a:srgbClr val="1A2430"/>
                </a:solidFill>
                <a:latin typeface="Calibri"/>
              </a:rPr>
              <a:t>▸  Prévention des substitutions silencieuses</a:t>
            </a:r>
          </a:p>
          <a:p>
            <a:pPr algn="l">
              <a:lnSpc>
                <a:spcPct val="125000"/>
              </a:lnSpc>
              <a:spcBef>
                <a:spcPts val="0"/>
              </a:spcBef>
              <a:spcAft>
                <a:spcPts val="600"/>
              </a:spcAft>
            </a:pPr>
            <a:r>
              <a:rPr sz="1350" b="0" i="0">
                <a:solidFill>
                  <a:srgbClr val="1A2430"/>
                </a:solidFill>
                <a:latin typeface="Calibri"/>
              </a:rPr>
              <a:t>▸  Visible dans le radar : colonne quality_score</a:t>
            </a:r>
          </a:p>
          <a:p>
            <a:pPr algn="l">
              <a:lnSpc>
                <a:spcPct val="125000"/>
              </a:lnSpc>
              <a:spcBef>
                <a:spcPts val="0"/>
              </a:spcBef>
              <a:spcAft>
                <a:spcPts val="600"/>
              </a:spcAft>
            </a:pPr>
            <a:r>
              <a:rPr sz="1350" b="0" i="0">
                <a:solidFill>
                  <a:srgbClr val="1A2430"/>
                </a:solidFill>
                <a:latin typeface="Calibri"/>
              </a:rPr>
              <a:t>▸  Alerte avant plainte utilisateur final</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ai_finops_quality_score{namespace, application, model}</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9</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Break-even &amp; recommandations automatiques</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12</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Économies potentielles invisibles — pas d'outil de comparaison</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AIBreakEvenAnalysis : actuel vs alternatif</a:t>
            </a:r>
          </a:p>
          <a:p>
            <a:pPr algn="l">
              <a:lnSpc>
                <a:spcPct val="125000"/>
              </a:lnSpc>
              <a:spcBef>
                <a:spcPts val="0"/>
              </a:spcBef>
              <a:spcAft>
                <a:spcPts val="600"/>
              </a:spcAft>
            </a:pPr>
            <a:r>
              <a:rPr sz="1350" b="0" i="0">
                <a:solidFill>
                  <a:srgbClr val="1A2430"/>
                </a:solidFill>
                <a:latin typeface="Calibri"/>
              </a:rPr>
              <a:t>▸  Calcul : (prix_actuel − prix_alternatif) × tokens_réels</a:t>
            </a:r>
          </a:p>
          <a:p>
            <a:pPr algn="l">
              <a:lnSpc>
                <a:spcPct val="125000"/>
              </a:lnSpc>
              <a:spcBef>
                <a:spcPts val="0"/>
              </a:spcBef>
              <a:spcAft>
                <a:spcPts val="600"/>
              </a:spcAft>
            </a:pPr>
            <a:r>
              <a:rPr sz="1350" b="0" i="0">
                <a:solidFill>
                  <a:srgbClr val="1A2430"/>
                </a:solidFill>
                <a:latin typeface="Calibri"/>
              </a:rPr>
              <a:t>▸  Recommandation auto si savings &gt; seuil</a:t>
            </a:r>
          </a:p>
          <a:p>
            <a:pPr algn="l">
              <a:lnSpc>
                <a:spcPct val="125000"/>
              </a:lnSpc>
              <a:spcBef>
                <a:spcPts val="0"/>
              </a:spcBef>
              <a:spcAft>
                <a:spcPts val="600"/>
              </a:spcAft>
            </a:pPr>
            <a:r>
              <a:rPr sz="1350" b="0" i="0">
                <a:solidFill>
                  <a:srgbClr val="1A2430"/>
                </a:solidFill>
                <a:latin typeface="Calibri"/>
              </a:rPr>
              <a:t>▸  Exporté dans .status.monthlySavingsEUR</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Quick wins chiffrés par équipe</a:t>
            </a:r>
          </a:p>
          <a:p>
            <a:pPr algn="l">
              <a:lnSpc>
                <a:spcPct val="125000"/>
              </a:lnSpc>
              <a:spcBef>
                <a:spcPts val="0"/>
              </a:spcBef>
              <a:spcAft>
                <a:spcPts val="600"/>
              </a:spcAft>
            </a:pPr>
            <a:r>
              <a:rPr sz="1350" b="0" i="0">
                <a:solidFill>
                  <a:srgbClr val="1A2430"/>
                </a:solidFill>
                <a:latin typeface="Calibri"/>
              </a:rPr>
              <a:t>▸  Justification ROI pour basculer vers Mistral EU</a:t>
            </a:r>
          </a:p>
          <a:p>
            <a:pPr algn="l">
              <a:lnSpc>
                <a:spcPct val="125000"/>
              </a:lnSpc>
              <a:spcBef>
                <a:spcPts val="0"/>
              </a:spcBef>
              <a:spcAft>
                <a:spcPts val="600"/>
              </a:spcAft>
            </a:pPr>
            <a:r>
              <a:rPr sz="1350" b="0" i="0">
                <a:solidFill>
                  <a:srgbClr val="1A2430"/>
                </a:solidFill>
                <a:latin typeface="Calibri"/>
              </a:rPr>
              <a:t>▸  Recommandation : rh peut économiser X€/mois</a:t>
            </a:r>
          </a:p>
          <a:p>
            <a:pPr algn="l">
              <a:lnSpc>
                <a:spcPct val="125000"/>
              </a:lnSpc>
              <a:spcBef>
                <a:spcPts val="0"/>
              </a:spcBef>
              <a:spcAft>
                <a:spcPts val="600"/>
              </a:spcAft>
            </a:pPr>
            <a:r>
              <a:rPr sz="1350" b="0" i="0">
                <a:solidFill>
                  <a:srgbClr val="1A2430"/>
                </a:solidFill>
                <a:latin typeface="Calibri"/>
              </a:rPr>
              <a:t>▸  Décision Make vs Buy sur données réelles</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ai_finops_potential_savings_eur{namespace, application}  ·  ai_finops_cost_saving_eur</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DÉMO LIVE</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Ce que vous voyez dans Grafana en ce moment</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13</a:t>
            </a:r>
          </a:p>
        </p:txBody>
      </p:sp>
      <p:sp>
        <p:nvSpPr>
          <p:cNvPr id="7" name="Rectangle 6"/>
          <p:cNvSpPr/>
          <p:nvPr/>
        </p:nvSpPr>
        <p:spPr>
          <a:xfrm>
            <a:off x="502920" y="1298448"/>
            <a:ext cx="2578608" cy="32918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44168"/>
            <a:ext cx="2514600" cy="25603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Provider réel</a:t>
            </a:r>
          </a:p>
        </p:txBody>
      </p:sp>
      <p:sp>
        <p:nvSpPr>
          <p:cNvPr id="9" name="Rectangle 8"/>
          <p:cNvSpPr/>
          <p:nvPr/>
        </p:nvSpPr>
        <p:spPr>
          <a:xfrm>
            <a:off x="3310128" y="1298448"/>
            <a:ext cx="2715768" cy="32918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01568" y="1344168"/>
            <a:ext cx="2651760" cy="25603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Applications</a:t>
            </a:r>
          </a:p>
        </p:txBody>
      </p:sp>
      <p:sp>
        <p:nvSpPr>
          <p:cNvPr id="11" name="Rectangle 10"/>
          <p:cNvSpPr/>
          <p:nvPr/>
        </p:nvSpPr>
        <p:spPr>
          <a:xfrm>
            <a:off x="6263640" y="1298448"/>
            <a:ext cx="2075688" cy="32918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344168"/>
            <a:ext cx="2011680" cy="25603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Zone</a:t>
            </a:r>
          </a:p>
        </p:txBody>
      </p:sp>
      <p:sp>
        <p:nvSpPr>
          <p:cNvPr id="13" name="Rectangle 12"/>
          <p:cNvSpPr/>
          <p:nvPr/>
        </p:nvSpPr>
        <p:spPr>
          <a:xfrm>
            <a:off x="8577072" y="1298448"/>
            <a:ext cx="3127248" cy="32918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68512" y="1344168"/>
            <a:ext cx="3063240" cy="25603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Modèle</a:t>
            </a:r>
          </a:p>
        </p:txBody>
      </p:sp>
      <p:sp>
        <p:nvSpPr>
          <p:cNvPr id="15" name="Rounded Rectangle 14"/>
          <p:cNvSpPr/>
          <p:nvPr/>
        </p:nvSpPr>
        <p:spPr>
          <a:xfrm>
            <a:off x="502920" y="1664208"/>
            <a:ext cx="11228832" cy="768096"/>
          </a:xfrm>
          <a:prstGeom prst="roundRect">
            <a:avLst/>
          </a:prstGeom>
          <a:solidFill>
            <a:srgbClr val="E9F8F1"/>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1664208"/>
            <a:ext cx="63500" cy="768096"/>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1847088"/>
            <a:ext cx="246888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1" i="0">
                <a:solidFill>
                  <a:srgbClr val="1A2430"/>
                </a:solidFill>
                <a:latin typeface="Calibri"/>
              </a:rPr>
              <a:t>Azure OpenAI France Central</a:t>
            </a:r>
          </a:p>
        </p:txBody>
      </p:sp>
      <p:sp>
        <p:nvSpPr>
          <p:cNvPr id="18" name="TextBox 17"/>
          <p:cNvSpPr txBox="1"/>
          <p:nvPr/>
        </p:nvSpPr>
        <p:spPr>
          <a:xfrm>
            <a:off x="3419856" y="1847088"/>
            <a:ext cx="2606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rh · legal</a:t>
            </a:r>
          </a:p>
        </p:txBody>
      </p:sp>
      <p:sp>
        <p:nvSpPr>
          <p:cNvPr id="19" name="TextBox 18"/>
          <p:cNvSpPr txBox="1"/>
          <p:nvPr/>
        </p:nvSpPr>
        <p:spPr>
          <a:xfrm>
            <a:off x="6373368" y="1847088"/>
            <a:ext cx="196596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FR ✅ conforme</a:t>
            </a:r>
          </a:p>
        </p:txBody>
      </p:sp>
      <p:sp>
        <p:nvSpPr>
          <p:cNvPr id="20" name="TextBox 19"/>
          <p:cNvSpPr txBox="1"/>
          <p:nvPr/>
        </p:nvSpPr>
        <p:spPr>
          <a:xfrm>
            <a:off x="8686800" y="1847088"/>
            <a:ext cx="301752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gpt-france-mini</a:t>
            </a:r>
          </a:p>
        </p:txBody>
      </p:sp>
      <p:sp>
        <p:nvSpPr>
          <p:cNvPr id="21" name="Rounded Rectangle 20"/>
          <p:cNvSpPr/>
          <p:nvPr/>
        </p:nvSpPr>
        <p:spPr>
          <a:xfrm>
            <a:off x="502920" y="2487168"/>
            <a:ext cx="11228832" cy="768096"/>
          </a:xfrm>
          <a:prstGeom prst="roundRect">
            <a:avLst/>
          </a:prstGeom>
          <a:solidFill>
            <a:srgbClr val="EAF1FB"/>
          </a:solidFill>
          <a:ln w="101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2487168"/>
            <a:ext cx="63500" cy="7680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 y="2670048"/>
            <a:ext cx="246888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1" i="0">
                <a:solidFill>
                  <a:srgbClr val="1A2430"/>
                </a:solidFill>
                <a:latin typeface="Calibri"/>
              </a:rPr>
              <a:t>Mistral EU — Azure Foundry</a:t>
            </a:r>
          </a:p>
        </p:txBody>
      </p:sp>
      <p:sp>
        <p:nvSpPr>
          <p:cNvPr id="24" name="TextBox 23"/>
          <p:cNvSpPr txBox="1"/>
          <p:nvPr/>
        </p:nvSpPr>
        <p:spPr>
          <a:xfrm>
            <a:off x="3419856" y="2670048"/>
            <a:ext cx="2606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marketing</a:t>
            </a:r>
          </a:p>
        </p:txBody>
      </p:sp>
      <p:sp>
        <p:nvSpPr>
          <p:cNvPr id="25" name="TextBox 24"/>
          <p:cNvSpPr txBox="1"/>
          <p:nvPr/>
        </p:nvSpPr>
        <p:spPr>
          <a:xfrm>
            <a:off x="6373368" y="2670048"/>
            <a:ext cx="196596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EU ✅ conforme</a:t>
            </a:r>
          </a:p>
        </p:txBody>
      </p:sp>
      <p:sp>
        <p:nvSpPr>
          <p:cNvPr id="26" name="TextBox 25"/>
          <p:cNvSpPr txBox="1"/>
          <p:nvPr/>
        </p:nvSpPr>
        <p:spPr>
          <a:xfrm>
            <a:off x="8686800" y="2670048"/>
            <a:ext cx="301752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mistral-large-latest</a:t>
            </a:r>
          </a:p>
        </p:txBody>
      </p:sp>
      <p:sp>
        <p:nvSpPr>
          <p:cNvPr id="27" name="Rounded Rectangle 26"/>
          <p:cNvSpPr/>
          <p:nvPr/>
        </p:nvSpPr>
        <p:spPr>
          <a:xfrm>
            <a:off x="502920" y="3310128"/>
            <a:ext cx="11228832" cy="768096"/>
          </a:xfrm>
          <a:prstGeom prst="roundRect">
            <a:avLst/>
          </a:prstGeom>
          <a:solidFill>
            <a:srgbClr val="FDECEC"/>
          </a:solidFill>
          <a:ln w="1016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3310128"/>
            <a:ext cx="63500" cy="768096"/>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 y="3493008"/>
            <a:ext cx="246888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1" i="0">
                <a:solidFill>
                  <a:srgbClr val="1A2430"/>
                </a:solidFill>
                <a:latin typeface="Calibri"/>
              </a:rPr>
              <a:t>Azure OpenAI US East</a:t>
            </a:r>
          </a:p>
        </p:txBody>
      </p:sp>
      <p:sp>
        <p:nvSpPr>
          <p:cNvPr id="30" name="TextBox 29"/>
          <p:cNvSpPr txBox="1"/>
          <p:nvPr/>
        </p:nvSpPr>
        <p:spPr>
          <a:xfrm>
            <a:off x="3419856" y="3493008"/>
            <a:ext cx="2606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finance</a:t>
            </a:r>
          </a:p>
        </p:txBody>
      </p:sp>
      <p:sp>
        <p:nvSpPr>
          <p:cNvPr id="31" name="TextBox 30"/>
          <p:cNvSpPr txBox="1"/>
          <p:nvPr/>
        </p:nvSpPr>
        <p:spPr>
          <a:xfrm>
            <a:off x="6373368" y="3493008"/>
            <a:ext cx="196596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US ❌ violation</a:t>
            </a:r>
          </a:p>
        </p:txBody>
      </p:sp>
      <p:sp>
        <p:nvSpPr>
          <p:cNvPr id="32" name="TextBox 31"/>
          <p:cNvSpPr txBox="1"/>
          <p:nvPr/>
        </p:nvSpPr>
        <p:spPr>
          <a:xfrm>
            <a:off x="8686800" y="3493008"/>
            <a:ext cx="301752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gpt-us-mini</a:t>
            </a:r>
          </a:p>
        </p:txBody>
      </p:sp>
      <p:sp>
        <p:nvSpPr>
          <p:cNvPr id="33" name="Rounded Rectangle 32"/>
          <p:cNvSpPr/>
          <p:nvPr/>
        </p:nvSpPr>
        <p:spPr>
          <a:xfrm>
            <a:off x="502920" y="4133088"/>
            <a:ext cx="11228832" cy="768096"/>
          </a:xfrm>
          <a:prstGeom prst="roundRect">
            <a:avLst/>
          </a:prstGeom>
          <a:solidFill>
            <a:srgbClr val="F4F7FA"/>
          </a:solidFill>
          <a:ln w="10160">
            <a:solidFill>
              <a:srgbClr val="5B66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4133088"/>
            <a:ext cx="63500" cy="768096"/>
          </a:xfrm>
          <a:prstGeom prst="rect">
            <a:avLst/>
          </a:prstGeom>
          <a:solidFill>
            <a:srgbClr val="5B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648" y="4315968"/>
            <a:ext cx="246888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1" i="0">
                <a:solidFill>
                  <a:srgbClr val="1A2430"/>
                </a:solidFill>
                <a:latin typeface="Calibri"/>
              </a:rPr>
              <a:t>Shadow AI — eBPF</a:t>
            </a:r>
          </a:p>
        </p:txBody>
      </p:sp>
      <p:sp>
        <p:nvSpPr>
          <p:cNvPr id="36" name="TextBox 35"/>
          <p:cNvSpPr txBox="1"/>
          <p:nvPr/>
        </p:nvSpPr>
        <p:spPr>
          <a:xfrm>
            <a:off x="3419856" y="4315968"/>
            <a:ext cx="2606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finance/shadow-rogue</a:t>
            </a:r>
          </a:p>
        </p:txBody>
      </p:sp>
      <p:sp>
        <p:nvSpPr>
          <p:cNvPr id="37" name="TextBox 36"/>
          <p:cNvSpPr txBox="1"/>
          <p:nvPr/>
        </p:nvSpPr>
        <p:spPr>
          <a:xfrm>
            <a:off x="6373368" y="4315968"/>
            <a:ext cx="196596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US ❌ critique</a:t>
            </a:r>
          </a:p>
        </p:txBody>
      </p:sp>
      <p:sp>
        <p:nvSpPr>
          <p:cNvPr id="38" name="TextBox 37"/>
          <p:cNvSpPr txBox="1"/>
          <p:nvPr/>
        </p:nvSpPr>
        <p:spPr>
          <a:xfrm>
            <a:off x="8686800" y="4315968"/>
            <a:ext cx="301752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api.openai.com direct</a:t>
            </a:r>
          </a:p>
        </p:txBody>
      </p:sp>
      <p:sp>
        <p:nvSpPr>
          <p:cNvPr id="39" name="Rounded Rectangle 38"/>
          <p:cNvSpPr/>
          <p:nvPr/>
        </p:nvSpPr>
        <p:spPr>
          <a:xfrm>
            <a:off x="502920" y="5074920"/>
            <a:ext cx="11155680" cy="10241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5166360"/>
            <a:ext cx="10789920" cy="868680"/>
          </a:xfrm>
          <a:prstGeom prst="rect">
            <a:avLst/>
          </a:prstGeom>
          <a:noFill/>
        </p:spPr>
        <p:txBody>
          <a:bodyPr wrap="square" anchor="t" lIns="38100" rIns="38100" tIns="12700" bIns="12700">
            <a:spAutoFit/>
          </a:bodyPr>
          <a:lstStyle/>
          <a:p>
            <a:pPr algn="l">
              <a:lnSpc>
                <a:spcPct val="120000"/>
              </a:lnSpc>
              <a:spcBef>
                <a:spcPts val="0"/>
              </a:spcBef>
              <a:spcAft>
                <a:spcPts val="400"/>
              </a:spcAft>
            </a:pPr>
            <a:r>
              <a:rPr sz="1400" b="1" i="0">
                <a:solidFill>
                  <a:srgbClr val="1EC87A"/>
                </a:solidFill>
                <a:latin typeface="Calibri"/>
              </a:rPr>
              <a:t>Grafana → http://localhost:3000</a:t>
            </a:r>
          </a:p>
          <a:p>
            <a:pPr algn="l">
              <a:lnSpc>
                <a:spcPct val="120000"/>
              </a:lnSpc>
              <a:spcBef>
                <a:spcPts val="0"/>
              </a:spcBef>
              <a:spcAft>
                <a:spcPts val="400"/>
              </a:spcAft>
            </a:pPr>
            <a:r>
              <a:rPr sz="1200" b="0" i="0">
                <a:solidFill>
                  <a:srgbClr val="B8C6D4"/>
                </a:solidFill>
                <a:latin typeface="Calibri"/>
              </a:rPr>
              <a:t>Radar 5D  ·  Budget phases  ·  Sovereignty findings  ·  Shadow AI bargauge</a:t>
            </a:r>
          </a:p>
        </p:txBody>
      </p:sp>
      <p:sp>
        <p:nvSpPr>
          <p:cNvPr id="41" name="TextBox 40"/>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API DÉCLARATIVE</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11 CRDs — la gouvernance IA comme objets Kubernetes natifs</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14</a:t>
            </a:r>
          </a:p>
        </p:txBody>
      </p:sp>
      <p:sp>
        <p:nvSpPr>
          <p:cNvPr id="7" name="Rectangle 6"/>
          <p:cNvSpPr/>
          <p:nvPr/>
        </p:nvSpPr>
        <p:spPr>
          <a:xfrm>
            <a:off x="502920" y="1298448"/>
            <a:ext cx="2697480" cy="329184"/>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CATALOGUE</a:t>
            </a:r>
          </a:p>
        </p:txBody>
      </p:sp>
      <p:sp>
        <p:nvSpPr>
          <p:cNvPr id="9" name="Rounded Rectangle 8"/>
          <p:cNvSpPr/>
          <p:nvPr/>
        </p:nvSpPr>
        <p:spPr>
          <a:xfrm>
            <a:off x="502920" y="1664208"/>
            <a:ext cx="2697480" cy="3639312"/>
          </a:xfrm>
          <a:prstGeom prst="roundRect">
            <a:avLst/>
          </a:prstGeom>
          <a:solidFill>
            <a:srgbClr val="F4F7F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84708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AIGateway</a:t>
            </a:r>
          </a:p>
        </p:txBody>
      </p:sp>
      <p:sp>
        <p:nvSpPr>
          <p:cNvPr id="11" name="TextBox 10"/>
          <p:cNvSpPr txBox="1"/>
          <p:nvPr/>
        </p:nvSpPr>
        <p:spPr>
          <a:xfrm>
            <a:off x="667512" y="221284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endpoint Envoy + telemetry mode</a:t>
            </a:r>
          </a:p>
        </p:txBody>
      </p:sp>
      <p:sp>
        <p:nvSpPr>
          <p:cNvPr id="12" name="TextBox 11"/>
          <p:cNvSpPr txBox="1"/>
          <p:nvPr/>
        </p:nvSpPr>
        <p:spPr>
          <a:xfrm>
            <a:off x="667512" y="296265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AIProvider</a:t>
            </a:r>
          </a:p>
        </p:txBody>
      </p:sp>
      <p:sp>
        <p:nvSpPr>
          <p:cNvPr id="13" name="TextBox 12"/>
          <p:cNvSpPr txBox="1"/>
          <p:nvPr/>
        </p:nvSpPr>
        <p:spPr>
          <a:xfrm>
            <a:off x="667512" y="332841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type · zone · prix · conformité</a:t>
            </a:r>
          </a:p>
        </p:txBody>
      </p:sp>
      <p:sp>
        <p:nvSpPr>
          <p:cNvPr id="14" name="TextBox 13"/>
          <p:cNvSpPr txBox="1"/>
          <p:nvPr/>
        </p:nvSpPr>
        <p:spPr>
          <a:xfrm>
            <a:off x="667512" y="4078224"/>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AIModel</a:t>
            </a:r>
          </a:p>
        </p:txBody>
      </p:sp>
      <p:sp>
        <p:nvSpPr>
          <p:cNvPr id="15" name="TextBox 14"/>
          <p:cNvSpPr txBox="1"/>
          <p:nvPr/>
        </p:nvSpPr>
        <p:spPr>
          <a:xfrm>
            <a:off x="667512" y="4443984"/>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modelName · qualityTier · servesNamespace</a:t>
            </a:r>
          </a:p>
        </p:txBody>
      </p:sp>
      <p:sp>
        <p:nvSpPr>
          <p:cNvPr id="16" name="Rectangle 15"/>
          <p:cNvSpPr/>
          <p:nvPr/>
        </p:nvSpPr>
        <p:spPr>
          <a:xfrm>
            <a:off x="3291840" y="1298448"/>
            <a:ext cx="2697480" cy="329184"/>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COÛT &amp; BUDGET</a:t>
            </a:r>
          </a:p>
        </p:txBody>
      </p:sp>
      <p:sp>
        <p:nvSpPr>
          <p:cNvPr id="18" name="Rounded Rectangle 17"/>
          <p:cNvSpPr/>
          <p:nvPr/>
        </p:nvSpPr>
        <p:spPr>
          <a:xfrm>
            <a:off x="3291840" y="1664208"/>
            <a:ext cx="2697480" cy="3639312"/>
          </a:xfrm>
          <a:prstGeom prst="roundRect">
            <a:avLst/>
          </a:prstGeom>
          <a:solidFill>
            <a:srgbClr val="F4F7FA"/>
          </a:solidFill>
          <a:ln w="101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184708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AIFinOpsReport</a:t>
            </a:r>
          </a:p>
        </p:txBody>
      </p:sp>
      <p:sp>
        <p:nvSpPr>
          <p:cNvPr id="20" name="TextBox 19"/>
          <p:cNvSpPr txBox="1"/>
          <p:nvPr/>
        </p:nvSpPr>
        <p:spPr>
          <a:xfrm>
            <a:off x="3456432" y="221284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coût observé · projeté · findings</a:t>
            </a:r>
          </a:p>
        </p:txBody>
      </p:sp>
      <p:sp>
        <p:nvSpPr>
          <p:cNvPr id="21" name="TextBox 20"/>
          <p:cNvSpPr txBox="1"/>
          <p:nvPr/>
        </p:nvSpPr>
        <p:spPr>
          <a:xfrm>
            <a:off x="3456432" y="296265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AIBudgetPolicy</a:t>
            </a:r>
          </a:p>
        </p:txBody>
      </p:sp>
      <p:sp>
        <p:nvSpPr>
          <p:cNvPr id="22" name="TextBox 21"/>
          <p:cNvSpPr txBox="1"/>
          <p:nvPr/>
        </p:nvSpPr>
        <p:spPr>
          <a:xfrm>
            <a:off x="3456432" y="332841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budgetEUR · seuils · enforcement</a:t>
            </a:r>
          </a:p>
        </p:txBody>
      </p:sp>
      <p:sp>
        <p:nvSpPr>
          <p:cNvPr id="23" name="TextBox 22"/>
          <p:cNvSpPr txBox="1"/>
          <p:nvPr/>
        </p:nvSpPr>
        <p:spPr>
          <a:xfrm>
            <a:off x="3456432" y="4078224"/>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AIBreakEvenAnalysis</a:t>
            </a:r>
          </a:p>
        </p:txBody>
      </p:sp>
      <p:sp>
        <p:nvSpPr>
          <p:cNvPr id="24" name="TextBox 23"/>
          <p:cNvSpPr txBox="1"/>
          <p:nvPr/>
        </p:nvSpPr>
        <p:spPr>
          <a:xfrm>
            <a:off x="3456432" y="4443984"/>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actuel vs alternatif · savings</a:t>
            </a:r>
          </a:p>
        </p:txBody>
      </p:sp>
      <p:sp>
        <p:nvSpPr>
          <p:cNvPr id="25" name="Rectangle 24"/>
          <p:cNvSpPr/>
          <p:nvPr/>
        </p:nvSpPr>
        <p:spPr>
          <a:xfrm>
            <a:off x="6080760" y="1298448"/>
            <a:ext cx="2697480"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ROUTAGE</a:t>
            </a:r>
          </a:p>
        </p:txBody>
      </p:sp>
      <p:sp>
        <p:nvSpPr>
          <p:cNvPr id="27" name="Rounded Rectangle 26"/>
          <p:cNvSpPr/>
          <p:nvPr/>
        </p:nvSpPr>
        <p:spPr>
          <a:xfrm>
            <a:off x="6080760" y="1664208"/>
            <a:ext cx="2697480" cy="3639312"/>
          </a:xfrm>
          <a:prstGeom prst="roundRect">
            <a:avLst/>
          </a:prstGeom>
          <a:solidFill>
            <a:srgbClr val="F4F7FA"/>
          </a:solidFill>
          <a:ln w="1016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5352" y="184708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AIRoutingPolicy</a:t>
            </a:r>
          </a:p>
        </p:txBody>
      </p:sp>
      <p:sp>
        <p:nvSpPr>
          <p:cNvPr id="29" name="TextBox 28"/>
          <p:cNvSpPr txBox="1"/>
          <p:nvPr/>
        </p:nvSpPr>
        <p:spPr>
          <a:xfrm>
            <a:off x="6245352" y="221284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règles · poids · TTL</a:t>
            </a:r>
          </a:p>
        </p:txBody>
      </p:sp>
      <p:sp>
        <p:nvSpPr>
          <p:cNvPr id="30" name="TextBox 29"/>
          <p:cNvSpPr txBox="1"/>
          <p:nvPr/>
        </p:nvSpPr>
        <p:spPr>
          <a:xfrm>
            <a:off x="6245352" y="296265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AIRouteOverride</a:t>
            </a:r>
          </a:p>
        </p:txBody>
      </p:sp>
      <p:sp>
        <p:nvSpPr>
          <p:cNvPr id="31" name="TextBox 30"/>
          <p:cNvSpPr txBox="1"/>
          <p:nvPr/>
        </p:nvSpPr>
        <p:spPr>
          <a:xfrm>
            <a:off x="6245352" y="332841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reroute immédiat · auto-révocation</a:t>
            </a:r>
          </a:p>
        </p:txBody>
      </p:sp>
      <p:sp>
        <p:nvSpPr>
          <p:cNvPr id="32" name="TextBox 31"/>
          <p:cNvSpPr txBox="1"/>
          <p:nvPr/>
        </p:nvSpPr>
        <p:spPr>
          <a:xfrm>
            <a:off x="6245352" y="4078224"/>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AIChangeRequest</a:t>
            </a:r>
          </a:p>
        </p:txBody>
      </p:sp>
      <p:sp>
        <p:nvSpPr>
          <p:cNvPr id="33" name="TextBox 32"/>
          <p:cNvSpPr txBox="1"/>
          <p:nvPr/>
        </p:nvSpPr>
        <p:spPr>
          <a:xfrm>
            <a:off x="6245352" y="4443984"/>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Pending→Approved→Actuated</a:t>
            </a:r>
          </a:p>
        </p:txBody>
      </p:sp>
      <p:sp>
        <p:nvSpPr>
          <p:cNvPr id="34" name="Rectangle 33"/>
          <p:cNvSpPr/>
          <p:nvPr/>
        </p:nvSpPr>
        <p:spPr>
          <a:xfrm>
            <a:off x="8869680" y="1298448"/>
            <a:ext cx="2697480" cy="329184"/>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QUALITÉ &amp; SÉC</a:t>
            </a:r>
          </a:p>
        </p:txBody>
      </p:sp>
      <p:sp>
        <p:nvSpPr>
          <p:cNvPr id="36" name="Rounded Rectangle 35"/>
          <p:cNvSpPr/>
          <p:nvPr/>
        </p:nvSpPr>
        <p:spPr>
          <a:xfrm>
            <a:off x="8869680" y="1664208"/>
            <a:ext cx="2697480" cy="3639312"/>
          </a:xfrm>
          <a:prstGeom prst="roundRect">
            <a:avLst/>
          </a:prstGeom>
          <a:solidFill>
            <a:srgbClr val="F4F7FA"/>
          </a:solidFill>
          <a:ln w="1016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34272" y="184708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AIQualityGate</a:t>
            </a:r>
          </a:p>
        </p:txBody>
      </p:sp>
      <p:sp>
        <p:nvSpPr>
          <p:cNvPr id="38" name="TextBox 37"/>
          <p:cNvSpPr txBox="1"/>
          <p:nvPr/>
        </p:nvSpPr>
        <p:spPr>
          <a:xfrm>
            <a:off x="9034272" y="221284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qualityTier minimum requis</a:t>
            </a:r>
          </a:p>
        </p:txBody>
      </p:sp>
      <p:sp>
        <p:nvSpPr>
          <p:cNvPr id="39" name="TextBox 38"/>
          <p:cNvSpPr txBox="1"/>
          <p:nvPr/>
        </p:nvSpPr>
        <p:spPr>
          <a:xfrm>
            <a:off x="9034272" y="296265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AISovereigntyPolicy</a:t>
            </a:r>
          </a:p>
        </p:txBody>
      </p:sp>
      <p:sp>
        <p:nvSpPr>
          <p:cNvPr id="40" name="TextBox 39"/>
          <p:cNvSpPr txBox="1"/>
          <p:nvPr/>
        </p:nvSpPr>
        <p:spPr>
          <a:xfrm>
            <a:off x="9034272" y="332841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zones autorisées/interdites · mode</a:t>
            </a:r>
          </a:p>
        </p:txBody>
      </p:sp>
      <p:sp>
        <p:nvSpPr>
          <p:cNvPr id="41" name="Rounded Rectangle 40"/>
          <p:cNvSpPr/>
          <p:nvPr/>
        </p:nvSpPr>
        <p:spPr>
          <a:xfrm>
            <a:off x="502920" y="5440680"/>
            <a:ext cx="11155680" cy="640080"/>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 y="5532120"/>
            <a:ext cx="10789920" cy="4572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kubectl apply -f catalog.yaml  →  kubectl get aiprovider,aimodel,aisovereigntypolicy,aibudgetpolicy -A</a:t>
            </a:r>
          </a:p>
        </p:txBody>
      </p:sp>
      <p:sp>
        <p:nvSpPr>
          <p:cNvPr id="43" name="TextBox 42"/>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OBSERVABILITÉ</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23 métriques ai_finops_* — Prometheus · Grafana radar 5D</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15</a:t>
            </a:r>
          </a:p>
        </p:txBody>
      </p:sp>
      <p:sp>
        <p:nvSpPr>
          <p:cNvPr id="7" name="Rectangle 6"/>
          <p:cNvSpPr/>
          <p:nvPr/>
        </p:nvSpPr>
        <p:spPr>
          <a:xfrm>
            <a:off x="502920" y="1298448"/>
            <a:ext cx="2697480" cy="329184"/>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Coût &amp; tokens</a:t>
            </a:r>
          </a:p>
        </p:txBody>
      </p:sp>
      <p:sp>
        <p:nvSpPr>
          <p:cNvPr id="9" name="Rounded Rectangle 8"/>
          <p:cNvSpPr/>
          <p:nvPr/>
        </p:nvSpPr>
        <p:spPr>
          <a:xfrm>
            <a:off x="502920" y="1664208"/>
            <a:ext cx="2697480" cy="4133087"/>
          </a:xfrm>
          <a:prstGeom prst="roundRect">
            <a:avLst/>
          </a:prstGeom>
          <a:solidFill>
            <a:srgbClr val="F4F7F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773936"/>
            <a:ext cx="2514600" cy="3931920"/>
          </a:xfrm>
          <a:prstGeom prst="rect">
            <a:avLst/>
          </a:prstGeom>
          <a:noFill/>
        </p:spPr>
        <p:txBody>
          <a:bodyPr wrap="square" anchor="t" lIns="38100" rIns="38100" tIns="12700" bIns="12700">
            <a:spAutoFit/>
          </a:bodyPr>
          <a:lstStyle/>
          <a:p>
            <a:pPr algn="l">
              <a:lnSpc>
                <a:spcPct val="120000"/>
              </a:lnSpc>
              <a:spcBef>
                <a:spcPts val="0"/>
              </a:spcBef>
              <a:spcAft>
                <a:spcPts val="400"/>
              </a:spcAft>
            </a:pPr>
            <a:r>
              <a:rPr sz="1050" b="0" i="0">
                <a:solidFill>
                  <a:srgbClr val="1A2430"/>
                </a:solidFill>
                <a:latin typeface="Calibri"/>
              </a:rPr>
              <a:t>• ai_finops_cost_eur
• ai_finops_input_tokens
• ai_finops_output_tokens
• ai_finops_cost_by_zone_eur
• ai_finops_projected_monthly_cost_eur</a:t>
            </a:r>
          </a:p>
        </p:txBody>
      </p:sp>
      <p:sp>
        <p:nvSpPr>
          <p:cNvPr id="11" name="Rectangle 10"/>
          <p:cNvSpPr/>
          <p:nvPr/>
        </p:nvSpPr>
        <p:spPr>
          <a:xfrm>
            <a:off x="3291840" y="1298448"/>
            <a:ext cx="2697480" cy="329184"/>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Budget &amp; économies</a:t>
            </a:r>
          </a:p>
        </p:txBody>
      </p:sp>
      <p:sp>
        <p:nvSpPr>
          <p:cNvPr id="13" name="Rounded Rectangle 12"/>
          <p:cNvSpPr/>
          <p:nvPr/>
        </p:nvSpPr>
        <p:spPr>
          <a:xfrm>
            <a:off x="3291840" y="1664208"/>
            <a:ext cx="2697480" cy="4133087"/>
          </a:xfrm>
          <a:prstGeom prst="roundRect">
            <a:avLst/>
          </a:prstGeom>
          <a:solidFill>
            <a:srgbClr val="F4F7FA"/>
          </a:solidFill>
          <a:ln w="101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01568" y="1773936"/>
            <a:ext cx="2514600" cy="3931920"/>
          </a:xfrm>
          <a:prstGeom prst="rect">
            <a:avLst/>
          </a:prstGeom>
          <a:noFill/>
        </p:spPr>
        <p:txBody>
          <a:bodyPr wrap="square" anchor="t" lIns="38100" rIns="38100" tIns="12700" bIns="12700">
            <a:spAutoFit/>
          </a:bodyPr>
          <a:lstStyle/>
          <a:p>
            <a:pPr algn="l">
              <a:lnSpc>
                <a:spcPct val="120000"/>
              </a:lnSpc>
              <a:spcBef>
                <a:spcPts val="0"/>
              </a:spcBef>
              <a:spcAft>
                <a:spcPts val="400"/>
              </a:spcAft>
            </a:pPr>
            <a:r>
              <a:rPr sz="1050" b="0" i="0">
                <a:solidFill>
                  <a:srgbClr val="1A2430"/>
                </a:solidFill>
                <a:latin typeface="Calibri"/>
              </a:rPr>
              <a:t>• ai_finops_budget_usage_percent
• ai_finops_potential_savings_eur
• ai_finops_potential_savings_by_app_eur
• ai_finops_cost_saving_eur
• ai_finops_recommendations</a:t>
            </a:r>
          </a:p>
        </p:txBody>
      </p:sp>
      <p:sp>
        <p:nvSpPr>
          <p:cNvPr id="15" name="Rectangle 14"/>
          <p:cNvSpPr/>
          <p:nvPr/>
        </p:nvSpPr>
        <p:spPr>
          <a:xfrm>
            <a:off x="6080760" y="1298448"/>
            <a:ext cx="2697480" cy="329184"/>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Souveraineté</a:t>
            </a:r>
          </a:p>
        </p:txBody>
      </p:sp>
      <p:sp>
        <p:nvSpPr>
          <p:cNvPr id="17" name="Rounded Rectangle 16"/>
          <p:cNvSpPr/>
          <p:nvPr/>
        </p:nvSpPr>
        <p:spPr>
          <a:xfrm>
            <a:off x="6080760" y="1664208"/>
            <a:ext cx="2697480" cy="4133087"/>
          </a:xfrm>
          <a:prstGeom prst="roundRect">
            <a:avLst/>
          </a:prstGeom>
          <a:solidFill>
            <a:srgbClr val="F4F7FA"/>
          </a:solidFill>
          <a:ln w="1016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1773936"/>
            <a:ext cx="2514600" cy="3931920"/>
          </a:xfrm>
          <a:prstGeom prst="rect">
            <a:avLst/>
          </a:prstGeom>
          <a:noFill/>
        </p:spPr>
        <p:txBody>
          <a:bodyPr wrap="square" anchor="t" lIns="38100" rIns="38100" tIns="12700" bIns="12700">
            <a:spAutoFit/>
          </a:bodyPr>
          <a:lstStyle/>
          <a:p>
            <a:pPr algn="l">
              <a:lnSpc>
                <a:spcPct val="120000"/>
              </a:lnSpc>
              <a:spcBef>
                <a:spcPts val="0"/>
              </a:spcBef>
              <a:spcAft>
                <a:spcPts val="400"/>
              </a:spcAft>
            </a:pPr>
            <a:r>
              <a:rPr sz="1050" b="0" i="0">
                <a:solidFill>
                  <a:srgbClr val="1A2430"/>
                </a:solidFill>
                <a:latin typeface="Calibri"/>
              </a:rPr>
              <a:t>• ai_finops_sovereignty_findings
• ai_finops_sovereignty_requests
• ai_finops_shadow_ai_egress
• ai_finops_enforcement_actions
• ai_finops_requests</a:t>
            </a:r>
          </a:p>
        </p:txBody>
      </p:sp>
      <p:sp>
        <p:nvSpPr>
          <p:cNvPr id="19" name="Rectangle 18"/>
          <p:cNvSpPr/>
          <p:nvPr/>
        </p:nvSpPr>
        <p:spPr>
          <a:xfrm>
            <a:off x="8869680" y="1298448"/>
            <a:ext cx="2697480"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Routing Score (5D)</a:t>
            </a:r>
          </a:p>
        </p:txBody>
      </p:sp>
      <p:sp>
        <p:nvSpPr>
          <p:cNvPr id="21" name="Rounded Rectangle 20"/>
          <p:cNvSpPr/>
          <p:nvPr/>
        </p:nvSpPr>
        <p:spPr>
          <a:xfrm>
            <a:off x="8869680" y="1664208"/>
            <a:ext cx="2697480" cy="4133087"/>
          </a:xfrm>
          <a:prstGeom prst="roundRect">
            <a:avLst/>
          </a:prstGeom>
          <a:solidFill>
            <a:srgbClr val="F4F7FA"/>
          </a:solidFill>
          <a:ln w="1016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79408" y="1773936"/>
            <a:ext cx="2514600" cy="3931920"/>
          </a:xfrm>
          <a:prstGeom prst="rect">
            <a:avLst/>
          </a:prstGeom>
          <a:noFill/>
        </p:spPr>
        <p:txBody>
          <a:bodyPr wrap="square" anchor="t" lIns="38100" rIns="38100" tIns="12700" bIns="12700">
            <a:spAutoFit/>
          </a:bodyPr>
          <a:lstStyle/>
          <a:p>
            <a:pPr algn="l">
              <a:lnSpc>
                <a:spcPct val="120000"/>
              </a:lnSpc>
              <a:spcBef>
                <a:spcPts val="0"/>
              </a:spcBef>
              <a:spcAft>
                <a:spcPts val="400"/>
              </a:spcAft>
            </a:pPr>
            <a:r>
              <a:rPr sz="1050" b="0" i="0">
                <a:solidFill>
                  <a:srgbClr val="1A2430"/>
                </a:solidFill>
                <a:latin typeface="Calibri"/>
              </a:rPr>
              <a:t>• ai_finops_routing_score
• ai_finops_cost_score
• ai_finops_quality_score
• ai_finops_latency_score
• ai_finops_reliability_score
• ai_finops_sovereignty_score
• ai_finops_measured_latency_millis
• ai_finops_latency_telemetry_available</a:t>
            </a:r>
          </a:p>
        </p:txBody>
      </p:sp>
      <p:sp>
        <p:nvSpPr>
          <p:cNvPr id="23" name="Rounded Rectangle 22"/>
          <p:cNvSpPr/>
          <p:nvPr/>
        </p:nvSpPr>
        <p:spPr>
          <a:xfrm>
            <a:off x="502920" y="5943600"/>
            <a:ext cx="11155680" cy="594360"/>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6016752"/>
            <a:ext cx="10789920" cy="41148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200" b="0" i="0">
                <a:solidFill>
                  <a:srgbClr val="B8C6D4"/>
                </a:solidFill>
                <a:latin typeface="Calibri"/>
              </a:rPr>
              <a:t>Tous les labels incluent namespace + application → chargeback sans configuration supplémentaire</a:t>
            </a:r>
          </a:p>
        </p:txBody>
      </p:sp>
      <p:sp>
        <p:nvSpPr>
          <p:cNvPr id="25" name="TextBox 24"/>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DÉPLOIEMENT</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3 étapes — Kind local ou AKS production</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16</a:t>
            </a:r>
          </a:p>
        </p:txBody>
      </p:sp>
      <p:sp>
        <p:nvSpPr>
          <p:cNvPr id="7" name="Rounded Rectangle 6"/>
          <p:cNvSpPr/>
          <p:nvPr/>
        </p:nvSpPr>
        <p:spPr>
          <a:xfrm>
            <a:off x="502920" y="1298448"/>
            <a:ext cx="11155680" cy="1481328"/>
          </a:xfrm>
          <a:prstGeom prst="roundRect">
            <a:avLst/>
          </a:prstGeom>
          <a:solidFill>
            <a:srgbClr val="F4F7FA"/>
          </a:solidFill>
          <a:ln w="1524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89888"/>
            <a:ext cx="10789920" cy="31089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1.  Opérateur</a:t>
            </a:r>
          </a:p>
        </p:txBody>
      </p:sp>
      <p:sp>
        <p:nvSpPr>
          <p:cNvPr id="9" name="TextBox 8"/>
          <p:cNvSpPr txBox="1"/>
          <p:nvPr/>
        </p:nvSpPr>
        <p:spPr>
          <a:xfrm>
            <a:off x="713232" y="1719072"/>
            <a:ext cx="10789920" cy="960120"/>
          </a:xfrm>
          <a:prstGeom prst="rect">
            <a:avLst/>
          </a:prstGeom>
          <a:noFill/>
        </p:spPr>
        <p:txBody>
          <a:bodyPr wrap="square" anchor="t" lIns="38100" rIns="38100" tIns="12700" bIns="12700">
            <a:spAutoFit/>
          </a:bodyPr>
          <a:lstStyle/>
          <a:p>
            <a:pPr algn="l">
              <a:lnSpc>
                <a:spcPct val="112000"/>
              </a:lnSpc>
              <a:spcBef>
                <a:spcPts val="0"/>
              </a:spcBef>
              <a:spcAft>
                <a:spcPts val="400"/>
              </a:spcAft>
            </a:pPr>
            <a:r>
              <a:rPr sz="1100" b="0" i="0">
                <a:solidFill>
                  <a:srgbClr val="1A2E4A"/>
                </a:solidFill>
                <a:latin typeface="Calibri"/>
              </a:rPr>
              <a:t>helm upgrade --install greenops charts/ai-sovereign-finops-operator</a:t>
            </a:r>
          </a:p>
          <a:p>
            <a:pPr algn="l">
              <a:lnSpc>
                <a:spcPct val="112000"/>
              </a:lnSpc>
              <a:spcBef>
                <a:spcPts val="0"/>
              </a:spcBef>
              <a:spcAft>
                <a:spcPts val="400"/>
              </a:spcAft>
            </a:pPr>
            <a:r>
              <a:rPr sz="1100" b="0" i="0">
                <a:solidFill>
                  <a:srgbClr val="1A2E4A"/>
                </a:solidFill>
                <a:latin typeface="Calibri"/>
              </a:rPr>
              <a:t>  --namespace greenops-system --create-namespace</a:t>
            </a:r>
          </a:p>
          <a:p>
            <a:pPr algn="l">
              <a:lnSpc>
                <a:spcPct val="112000"/>
              </a:lnSpc>
              <a:spcBef>
                <a:spcPts val="0"/>
              </a:spcBef>
              <a:spcAft>
                <a:spcPts val="400"/>
              </a:spcAft>
            </a:pPr>
            <a:r>
              <a:rPr sz="1100" b="0" i="0">
                <a:solidFill>
                  <a:srgbClr val="1A2E4A"/>
                </a:solidFill>
                <a:latin typeface="Calibri"/>
              </a:rPr>
              <a:t># CRDs + Deployment + RBAC + ServiceMonitor opt.</a:t>
            </a:r>
          </a:p>
        </p:txBody>
      </p:sp>
      <p:sp>
        <p:nvSpPr>
          <p:cNvPr id="10" name="Rounded Rectangle 9"/>
          <p:cNvSpPr/>
          <p:nvPr/>
        </p:nvSpPr>
        <p:spPr>
          <a:xfrm>
            <a:off x="502920" y="2871216"/>
            <a:ext cx="11155680" cy="1481328"/>
          </a:xfrm>
          <a:prstGeom prst="roundRect">
            <a:avLst/>
          </a:prstGeom>
          <a:solidFill>
            <a:srgbClr val="F4F7FA"/>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962656"/>
            <a:ext cx="10789920" cy="31089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3B82F6"/>
                </a:solidFill>
                <a:latin typeface="Calibri"/>
              </a:rPr>
              <a:t>2.  Catalogue</a:t>
            </a:r>
          </a:p>
        </p:txBody>
      </p:sp>
      <p:sp>
        <p:nvSpPr>
          <p:cNvPr id="12" name="TextBox 11"/>
          <p:cNvSpPr txBox="1"/>
          <p:nvPr/>
        </p:nvSpPr>
        <p:spPr>
          <a:xfrm>
            <a:off x="713232" y="3291840"/>
            <a:ext cx="10789920" cy="960120"/>
          </a:xfrm>
          <a:prstGeom prst="rect">
            <a:avLst/>
          </a:prstGeom>
          <a:noFill/>
        </p:spPr>
        <p:txBody>
          <a:bodyPr wrap="square" anchor="t" lIns="38100" rIns="38100" tIns="12700" bIns="12700">
            <a:spAutoFit/>
          </a:bodyPr>
          <a:lstStyle/>
          <a:p>
            <a:pPr algn="l">
              <a:lnSpc>
                <a:spcPct val="112000"/>
              </a:lnSpc>
              <a:spcBef>
                <a:spcPts val="0"/>
              </a:spcBef>
              <a:spcAft>
                <a:spcPts val="400"/>
              </a:spcAft>
            </a:pPr>
            <a:r>
              <a:rPr sz="1100" b="0" i="0">
                <a:solidFill>
                  <a:srgbClr val="1A2E4A"/>
                </a:solidFill>
                <a:latin typeface="Calibri"/>
              </a:rPr>
              <a:t>kubectl apply -f 06-openai-fr.yaml   # Azure OpenAI France</a:t>
            </a:r>
          </a:p>
          <a:p>
            <a:pPr algn="l">
              <a:lnSpc>
                <a:spcPct val="112000"/>
              </a:lnSpc>
              <a:spcBef>
                <a:spcPts val="0"/>
              </a:spcBef>
              <a:spcAft>
                <a:spcPts val="400"/>
              </a:spcAft>
            </a:pPr>
            <a:r>
              <a:rPr sz="1100" b="0" i="0">
                <a:solidFill>
                  <a:srgbClr val="1A2E4A"/>
                </a:solidFill>
                <a:latin typeface="Calibri"/>
              </a:rPr>
              <a:t>kubectl apply -f 07-openai-us.yaml   # Azure OpenAI US</a:t>
            </a:r>
          </a:p>
          <a:p>
            <a:pPr algn="l">
              <a:lnSpc>
                <a:spcPct val="112000"/>
              </a:lnSpc>
              <a:spcBef>
                <a:spcPts val="0"/>
              </a:spcBef>
              <a:spcAft>
                <a:spcPts val="400"/>
              </a:spcAft>
            </a:pPr>
            <a:r>
              <a:rPr sz="1100" b="0" i="0">
                <a:solidFill>
                  <a:srgbClr val="1A2E4A"/>
                </a:solidFill>
                <a:latin typeface="Calibri"/>
              </a:rPr>
              <a:t>kubectl apply -f 05-mistral-eu.yaml  # Mistral EU Foundry</a:t>
            </a:r>
          </a:p>
        </p:txBody>
      </p:sp>
      <p:sp>
        <p:nvSpPr>
          <p:cNvPr id="13" name="Rounded Rectangle 12"/>
          <p:cNvSpPr/>
          <p:nvPr/>
        </p:nvSpPr>
        <p:spPr>
          <a:xfrm>
            <a:off x="502920" y="4443984"/>
            <a:ext cx="11155680" cy="1481328"/>
          </a:xfrm>
          <a:prstGeom prst="roundRect">
            <a:avLst/>
          </a:prstGeom>
          <a:solidFill>
            <a:srgbClr val="F4F7FA"/>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535424"/>
            <a:ext cx="10789920" cy="31089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F59E0B"/>
                </a:solidFill>
                <a:latin typeface="Calibri"/>
              </a:rPr>
              <a:t>3.  Politiques</a:t>
            </a:r>
          </a:p>
        </p:txBody>
      </p:sp>
      <p:sp>
        <p:nvSpPr>
          <p:cNvPr id="15" name="TextBox 14"/>
          <p:cNvSpPr txBox="1"/>
          <p:nvPr/>
        </p:nvSpPr>
        <p:spPr>
          <a:xfrm>
            <a:off x="713232" y="4864608"/>
            <a:ext cx="10789920" cy="960120"/>
          </a:xfrm>
          <a:prstGeom prst="rect">
            <a:avLst/>
          </a:prstGeom>
          <a:noFill/>
        </p:spPr>
        <p:txBody>
          <a:bodyPr wrap="square" anchor="t" lIns="38100" rIns="38100" tIns="12700" bIns="12700">
            <a:spAutoFit/>
          </a:bodyPr>
          <a:lstStyle/>
          <a:p>
            <a:pPr algn="l">
              <a:lnSpc>
                <a:spcPct val="112000"/>
              </a:lnSpc>
              <a:spcBef>
                <a:spcPts val="0"/>
              </a:spcBef>
              <a:spcAft>
                <a:spcPts val="400"/>
              </a:spcAft>
            </a:pPr>
            <a:r>
              <a:rPr sz="1100" b="0" i="0">
                <a:solidFill>
                  <a:srgbClr val="1A2E4A"/>
                </a:solidFill>
                <a:latin typeface="Calibri"/>
              </a:rPr>
              <a:t>kubectl apply -f sovereignty.yaml   # AISovereigntyPolicy</a:t>
            </a:r>
          </a:p>
          <a:p>
            <a:pPr algn="l">
              <a:lnSpc>
                <a:spcPct val="112000"/>
              </a:lnSpc>
              <a:spcBef>
                <a:spcPts val="0"/>
              </a:spcBef>
              <a:spcAft>
                <a:spcPts val="400"/>
              </a:spcAft>
            </a:pPr>
            <a:r>
              <a:rPr sz="1100" b="0" i="0">
                <a:solidFill>
                  <a:srgbClr val="1A2E4A"/>
                </a:solidFill>
                <a:latin typeface="Calibri"/>
              </a:rPr>
              <a:t>kubectl apply -f budgets.yaml        # AIBudgetPolicy × 4</a:t>
            </a:r>
          </a:p>
          <a:p>
            <a:pPr algn="l">
              <a:lnSpc>
                <a:spcPct val="112000"/>
              </a:lnSpc>
              <a:spcBef>
                <a:spcPts val="0"/>
              </a:spcBef>
              <a:spcAft>
                <a:spcPts val="400"/>
              </a:spcAft>
            </a:pPr>
            <a:r>
              <a:rPr sz="1100" b="0" i="0">
                <a:solidFill>
                  <a:srgbClr val="1A2E4A"/>
                </a:solidFill>
                <a:latin typeface="Calibri"/>
              </a:rPr>
              <a:t># Opérateur réconcilie toutes les 30s</a:t>
            </a:r>
          </a:p>
        </p:txBody>
      </p:sp>
      <p:sp>
        <p:nvSpPr>
          <p:cNvPr id="16" name="Rounded Rectangle 15"/>
          <p:cNvSpPr/>
          <p:nvPr/>
        </p:nvSpPr>
        <p:spPr>
          <a:xfrm>
            <a:off x="502920" y="6053328"/>
            <a:ext cx="11155680" cy="47548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6126480"/>
            <a:ext cx="107899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Démo complète 1 commande : </a:t>
            </a:r>
            <a:r>
              <a:rPr sz="1200" b="0" i="0">
                <a:solidFill>
                  <a:srgbClr val="B8C6D4"/>
                </a:solidFill>
                <a:latin typeface="Calibri"/>
              </a:rPr>
              <a:t>cd automatisation/envoy-aigw  &amp;&amp;  ./deploy.sh up</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SYNTHÈSE</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9 problèmes → 9 solutions → impact mesurable</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17</a:t>
            </a:r>
          </a:p>
        </p:txBody>
      </p:sp>
      <p:sp>
        <p:nvSpPr>
          <p:cNvPr id="7" name="Rounded Rectangle 6"/>
          <p:cNvSpPr/>
          <p:nvPr/>
        </p:nvSpPr>
        <p:spPr>
          <a:xfrm>
            <a:off x="502920" y="1280160"/>
            <a:ext cx="11155680" cy="493776"/>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71600"/>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9" name="TextBox 8"/>
          <p:cNvSpPr txBox="1"/>
          <p:nvPr/>
        </p:nvSpPr>
        <p:spPr>
          <a:xfrm>
            <a:off x="1005840" y="1371600"/>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Facture globale</a:t>
            </a:r>
          </a:p>
        </p:txBody>
      </p:sp>
      <p:sp>
        <p:nvSpPr>
          <p:cNvPr id="10" name="TextBox 9"/>
          <p:cNvSpPr txBox="1"/>
          <p:nvPr/>
        </p:nvSpPr>
        <p:spPr>
          <a:xfrm>
            <a:off x="3456432" y="1371600"/>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Attribution namespace/app</a:t>
            </a:r>
          </a:p>
        </p:txBody>
      </p:sp>
      <p:sp>
        <p:nvSpPr>
          <p:cNvPr id="11" name="TextBox 10"/>
          <p:cNvSpPr txBox="1"/>
          <p:nvPr/>
        </p:nvSpPr>
        <p:spPr>
          <a:xfrm>
            <a:off x="7635240" y="1371600"/>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Chargeback exact dès J+1</a:t>
            </a:r>
          </a:p>
        </p:txBody>
      </p:sp>
      <p:sp>
        <p:nvSpPr>
          <p:cNvPr id="12" name="Rounded Rectangle 11"/>
          <p:cNvSpPr/>
          <p:nvPr/>
        </p:nvSpPr>
        <p:spPr>
          <a:xfrm>
            <a:off x="502920" y="1796795"/>
            <a:ext cx="11155680" cy="4937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888235"/>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14" name="TextBox 13"/>
          <p:cNvSpPr txBox="1"/>
          <p:nvPr/>
        </p:nvSpPr>
        <p:spPr>
          <a:xfrm>
            <a:off x="1005840" y="1888235"/>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Budget dépassé sans alerte</a:t>
            </a:r>
          </a:p>
        </p:txBody>
      </p:sp>
      <p:sp>
        <p:nvSpPr>
          <p:cNvPr id="15" name="TextBox 14"/>
          <p:cNvSpPr txBox="1"/>
          <p:nvPr/>
        </p:nvSpPr>
        <p:spPr>
          <a:xfrm>
            <a:off x="3456432" y="1888235"/>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AIBudgetPolicy + enforcement</a:t>
            </a:r>
          </a:p>
        </p:txBody>
      </p:sp>
      <p:sp>
        <p:nvSpPr>
          <p:cNvPr id="16" name="TextBox 15"/>
          <p:cNvSpPr txBox="1"/>
          <p:nvPr/>
        </p:nvSpPr>
        <p:spPr>
          <a:xfrm>
            <a:off x="7635240" y="1888235"/>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Alerte + blocage automatique</a:t>
            </a:r>
          </a:p>
        </p:txBody>
      </p:sp>
      <p:sp>
        <p:nvSpPr>
          <p:cNvPr id="17" name="Rounded Rectangle 16"/>
          <p:cNvSpPr/>
          <p:nvPr/>
        </p:nvSpPr>
        <p:spPr>
          <a:xfrm>
            <a:off x="502920" y="2313430"/>
            <a:ext cx="11155680" cy="493776"/>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404870"/>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19" name="TextBox 18"/>
          <p:cNvSpPr txBox="1"/>
          <p:nvPr/>
        </p:nvSpPr>
        <p:spPr>
          <a:xfrm>
            <a:off x="1005840" y="2404870"/>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RGPD/AI Act non vérifiés</a:t>
            </a:r>
          </a:p>
        </p:txBody>
      </p:sp>
      <p:sp>
        <p:nvSpPr>
          <p:cNvPr id="20" name="TextBox 19"/>
          <p:cNvSpPr txBox="1"/>
          <p:nvPr/>
        </p:nvSpPr>
        <p:spPr>
          <a:xfrm>
            <a:off x="3456432" y="2404870"/>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AISovereigntyPolicy FR/EU/US</a:t>
            </a:r>
          </a:p>
        </p:txBody>
      </p:sp>
      <p:sp>
        <p:nvSpPr>
          <p:cNvPr id="21" name="TextBox 20"/>
          <p:cNvSpPr txBox="1"/>
          <p:nvPr/>
        </p:nvSpPr>
        <p:spPr>
          <a:xfrm>
            <a:off x="7635240" y="2404870"/>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Findings critiques temps réel</a:t>
            </a:r>
          </a:p>
        </p:txBody>
      </p:sp>
      <p:sp>
        <p:nvSpPr>
          <p:cNvPr id="22" name="Rounded Rectangle 21"/>
          <p:cNvSpPr/>
          <p:nvPr/>
        </p:nvSpPr>
        <p:spPr>
          <a:xfrm>
            <a:off x="502920" y="2830065"/>
            <a:ext cx="11155680" cy="4937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921505"/>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24" name="TextBox 23"/>
          <p:cNvSpPr txBox="1"/>
          <p:nvPr/>
        </p:nvSpPr>
        <p:spPr>
          <a:xfrm>
            <a:off x="1005840" y="2921505"/>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Choix modèle intuitif</a:t>
            </a:r>
          </a:p>
        </p:txBody>
      </p:sp>
      <p:sp>
        <p:nvSpPr>
          <p:cNvPr id="25" name="TextBox 24"/>
          <p:cNvSpPr txBox="1"/>
          <p:nvPr/>
        </p:nvSpPr>
        <p:spPr>
          <a:xfrm>
            <a:off x="3456432" y="2921505"/>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Routing Score 5D + radar</a:t>
            </a:r>
          </a:p>
        </p:txBody>
      </p:sp>
      <p:sp>
        <p:nvSpPr>
          <p:cNvPr id="26" name="TextBox 25"/>
          <p:cNvSpPr txBox="1"/>
          <p:nvPr/>
        </p:nvSpPr>
        <p:spPr>
          <a:xfrm>
            <a:off x="7635240" y="2921505"/>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Décision sur 5 critères</a:t>
            </a:r>
          </a:p>
        </p:txBody>
      </p:sp>
      <p:sp>
        <p:nvSpPr>
          <p:cNvPr id="27" name="Rounded Rectangle 26"/>
          <p:cNvSpPr/>
          <p:nvPr/>
        </p:nvSpPr>
        <p:spPr>
          <a:xfrm>
            <a:off x="502920" y="3346700"/>
            <a:ext cx="11155680" cy="493776"/>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3438140"/>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29" name="TextBox 28"/>
          <p:cNvSpPr txBox="1"/>
          <p:nvPr/>
        </p:nvSpPr>
        <p:spPr>
          <a:xfrm>
            <a:off x="1005840" y="3438140"/>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Shadow AI invisible</a:t>
            </a:r>
          </a:p>
        </p:txBody>
      </p:sp>
      <p:sp>
        <p:nvSpPr>
          <p:cNvPr id="30" name="TextBox 29"/>
          <p:cNvSpPr txBox="1"/>
          <p:nvPr/>
        </p:nvSpPr>
        <p:spPr>
          <a:xfrm>
            <a:off x="3456432" y="3438140"/>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Tetragon eBPF tcp:443</a:t>
            </a:r>
          </a:p>
        </p:txBody>
      </p:sp>
      <p:sp>
        <p:nvSpPr>
          <p:cNvPr id="31" name="TextBox 30"/>
          <p:cNvSpPr txBox="1"/>
          <p:nvPr/>
        </p:nvSpPr>
        <p:spPr>
          <a:xfrm>
            <a:off x="7635240" y="3438140"/>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Détection &lt; 30s</a:t>
            </a:r>
          </a:p>
        </p:txBody>
      </p:sp>
      <p:sp>
        <p:nvSpPr>
          <p:cNvPr id="32" name="Rounded Rectangle 31"/>
          <p:cNvSpPr/>
          <p:nvPr/>
        </p:nvSpPr>
        <p:spPr>
          <a:xfrm>
            <a:off x="502920" y="3863335"/>
            <a:ext cx="11155680" cy="4937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3954775"/>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34" name="TextBox 33"/>
          <p:cNvSpPr txBox="1"/>
          <p:nvPr/>
        </p:nvSpPr>
        <p:spPr>
          <a:xfrm>
            <a:off x="1005840" y="3954775"/>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Changements sans validation</a:t>
            </a:r>
          </a:p>
        </p:txBody>
      </p:sp>
      <p:sp>
        <p:nvSpPr>
          <p:cNvPr id="35" name="TextBox 34"/>
          <p:cNvSpPr txBox="1"/>
          <p:nvPr/>
        </p:nvSpPr>
        <p:spPr>
          <a:xfrm>
            <a:off x="3456432" y="3954775"/>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AIChangeRequest Pending→OK</a:t>
            </a:r>
          </a:p>
        </p:txBody>
      </p:sp>
      <p:sp>
        <p:nvSpPr>
          <p:cNvPr id="36" name="TextBox 35"/>
          <p:cNvSpPr txBox="1"/>
          <p:nvPr/>
        </p:nvSpPr>
        <p:spPr>
          <a:xfrm>
            <a:off x="7635240" y="3954775"/>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Audit trail complet</a:t>
            </a:r>
          </a:p>
        </p:txBody>
      </p:sp>
      <p:sp>
        <p:nvSpPr>
          <p:cNvPr id="37" name="Rounded Rectangle 36"/>
          <p:cNvSpPr/>
          <p:nvPr/>
        </p:nvSpPr>
        <p:spPr>
          <a:xfrm>
            <a:off x="502920" y="4379970"/>
            <a:ext cx="11155680" cy="493776"/>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4471410"/>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39" name="TextBox 38"/>
          <p:cNvSpPr txBox="1"/>
          <p:nvPr/>
        </p:nvSpPr>
        <p:spPr>
          <a:xfrm>
            <a:off x="1005840" y="4471410"/>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Routage manuel risqué</a:t>
            </a:r>
          </a:p>
        </p:txBody>
      </p:sp>
      <p:sp>
        <p:nvSpPr>
          <p:cNvPr id="40" name="TextBox 39"/>
          <p:cNvSpPr txBox="1"/>
          <p:nvPr/>
        </p:nvSpPr>
        <p:spPr>
          <a:xfrm>
            <a:off x="3456432" y="4471410"/>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AIRoutingPolicy + Override</a:t>
            </a:r>
          </a:p>
        </p:txBody>
      </p:sp>
      <p:sp>
        <p:nvSpPr>
          <p:cNvPr id="41" name="TextBox 40"/>
          <p:cNvSpPr txBox="1"/>
          <p:nvPr/>
        </p:nvSpPr>
        <p:spPr>
          <a:xfrm>
            <a:off x="7635240" y="4471410"/>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Rollback en 10 secondes</a:t>
            </a:r>
          </a:p>
        </p:txBody>
      </p:sp>
      <p:sp>
        <p:nvSpPr>
          <p:cNvPr id="42" name="Rounded Rectangle 41"/>
          <p:cNvSpPr/>
          <p:nvPr/>
        </p:nvSpPr>
        <p:spPr>
          <a:xfrm>
            <a:off x="502920" y="4896605"/>
            <a:ext cx="11155680" cy="4937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4988045"/>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44" name="TextBox 43"/>
          <p:cNvSpPr txBox="1"/>
          <p:nvPr/>
        </p:nvSpPr>
        <p:spPr>
          <a:xfrm>
            <a:off x="1005840" y="4988045"/>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Qualité silencieuse</a:t>
            </a:r>
          </a:p>
        </p:txBody>
      </p:sp>
      <p:sp>
        <p:nvSpPr>
          <p:cNvPr id="45" name="TextBox 44"/>
          <p:cNvSpPr txBox="1"/>
          <p:nvPr/>
        </p:nvSpPr>
        <p:spPr>
          <a:xfrm>
            <a:off x="3456432" y="4988045"/>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AIQualityGate tier minimum</a:t>
            </a:r>
          </a:p>
        </p:txBody>
      </p:sp>
      <p:sp>
        <p:nvSpPr>
          <p:cNvPr id="46" name="TextBox 45"/>
          <p:cNvSpPr txBox="1"/>
          <p:nvPr/>
        </p:nvSpPr>
        <p:spPr>
          <a:xfrm>
            <a:off x="7635240" y="4988045"/>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Alerte avant l'utilisateur</a:t>
            </a:r>
          </a:p>
        </p:txBody>
      </p:sp>
      <p:sp>
        <p:nvSpPr>
          <p:cNvPr id="47" name="Rounded Rectangle 46"/>
          <p:cNvSpPr/>
          <p:nvPr/>
        </p:nvSpPr>
        <p:spPr>
          <a:xfrm>
            <a:off x="502920" y="5413240"/>
            <a:ext cx="11155680" cy="493776"/>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5504680"/>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49" name="TextBox 48"/>
          <p:cNvSpPr txBox="1"/>
          <p:nvPr/>
        </p:nvSpPr>
        <p:spPr>
          <a:xfrm>
            <a:off x="1005840" y="5504680"/>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Savings invisibles</a:t>
            </a:r>
          </a:p>
        </p:txBody>
      </p:sp>
      <p:sp>
        <p:nvSpPr>
          <p:cNvPr id="50" name="TextBox 49"/>
          <p:cNvSpPr txBox="1"/>
          <p:nvPr/>
        </p:nvSpPr>
        <p:spPr>
          <a:xfrm>
            <a:off x="3456432" y="5504680"/>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AIBreakEvenAnalysis tokens réels</a:t>
            </a:r>
          </a:p>
        </p:txBody>
      </p:sp>
      <p:sp>
        <p:nvSpPr>
          <p:cNvPr id="51" name="TextBox 50"/>
          <p:cNvSpPr txBox="1"/>
          <p:nvPr/>
        </p:nvSpPr>
        <p:spPr>
          <a:xfrm>
            <a:off x="7635240" y="5504680"/>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ROI chiffré par équipe</a:t>
            </a:r>
          </a:p>
        </p:txBody>
      </p:sp>
      <p:sp>
        <p:nvSpPr>
          <p:cNvPr id="52" name="Rounded Rectangle 51"/>
          <p:cNvSpPr/>
          <p:nvPr/>
        </p:nvSpPr>
        <p:spPr>
          <a:xfrm>
            <a:off x="502920" y="59618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3232" y="6053328"/>
            <a:ext cx="10789920" cy="384048"/>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300" b="1" i="0">
                <a:solidFill>
                  <a:srgbClr val="1EC87A"/>
                </a:solidFill>
                <a:latin typeface="Calibri"/>
              </a:rPr>
              <a:t>11 CRDs  ·  23 métriques  ·  3 providers réels  ·  Apache 2.0  ·  v0.5.2</a:t>
            </a:r>
          </a:p>
        </p:txBody>
      </p:sp>
      <p:sp>
        <p:nvSpPr>
          <p:cNvPr id="54" name="TextBox 53"/>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HONNÊTETÉ</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Limites actuelles — assumées</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18</a:t>
            </a:r>
          </a:p>
        </p:txBody>
      </p:sp>
      <p:sp>
        <p:nvSpPr>
          <p:cNvPr id="7" name="Rounded Rectangle 6"/>
          <p:cNvSpPr/>
          <p:nvPr/>
        </p:nvSpPr>
        <p:spPr>
          <a:xfrm>
            <a:off x="502920" y="1298448"/>
            <a:ext cx="11155680" cy="1143000"/>
          </a:xfrm>
          <a:prstGeom prst="roundRect">
            <a:avLst/>
          </a:prstGeom>
          <a:solidFill>
            <a:srgbClr val="FEF3E2"/>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89888"/>
            <a:ext cx="10789920" cy="329184"/>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F59E0B"/>
                </a:solidFill>
                <a:latin typeface="Calibri"/>
              </a:rPr>
              <a:t>Latence ≠ TTFT</a:t>
            </a:r>
          </a:p>
        </p:txBody>
      </p:sp>
      <p:sp>
        <p:nvSpPr>
          <p:cNvPr id="9" name="TextBox 8"/>
          <p:cNvSpPr txBox="1"/>
          <p:nvPr/>
        </p:nvSpPr>
        <p:spPr>
          <a:xfrm>
            <a:off x="713232" y="1755648"/>
            <a:ext cx="10789920" cy="594360"/>
          </a:xfrm>
          <a:prstGeom prst="rect">
            <a:avLst/>
          </a:prstGeom>
          <a:noFill/>
        </p:spPr>
        <p:txBody>
          <a:bodyPr wrap="square" anchor="t" lIns="38100" rIns="38100" tIns="12700" bIns="12700">
            <a:spAutoFit/>
          </a:bodyPr>
          <a:lstStyle/>
          <a:p>
            <a:pPr algn="l">
              <a:lnSpc>
                <a:spcPct val="110000"/>
              </a:lnSpc>
              <a:spcBef>
                <a:spcPts val="0"/>
              </a:spcBef>
              <a:spcAft>
                <a:spcPts val="400"/>
              </a:spcAft>
            </a:pPr>
            <a:r>
              <a:rPr sz="1250" b="0" i="0">
                <a:solidFill>
                  <a:srgbClr val="1A2430"/>
                </a:solidFill>
                <a:latin typeface="Calibri"/>
              </a:rPr>
              <a:t>Score basé sur durée gateway (P50). Time-to-first-token non séparé.</a:t>
            </a:r>
          </a:p>
        </p:txBody>
      </p:sp>
      <p:sp>
        <p:nvSpPr>
          <p:cNvPr id="10" name="Rounded Rectangle 9"/>
          <p:cNvSpPr/>
          <p:nvPr/>
        </p:nvSpPr>
        <p:spPr>
          <a:xfrm>
            <a:off x="502920" y="2532888"/>
            <a:ext cx="11155680" cy="1143000"/>
          </a:xfrm>
          <a:prstGeom prst="roundRect">
            <a:avLst/>
          </a:prstGeom>
          <a:solidFill>
            <a:srgbClr val="FEF3E2"/>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24328"/>
            <a:ext cx="10789920" cy="329184"/>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F59E0B"/>
                </a:solidFill>
                <a:latin typeface="Calibri"/>
              </a:rPr>
              <a:t>Quality score = tier statique</a:t>
            </a:r>
          </a:p>
        </p:txBody>
      </p:sp>
      <p:sp>
        <p:nvSpPr>
          <p:cNvPr id="12" name="TextBox 11"/>
          <p:cNvSpPr txBox="1"/>
          <p:nvPr/>
        </p:nvSpPr>
        <p:spPr>
          <a:xfrm>
            <a:off x="713232" y="2990088"/>
            <a:ext cx="10789920" cy="594360"/>
          </a:xfrm>
          <a:prstGeom prst="rect">
            <a:avLst/>
          </a:prstGeom>
          <a:noFill/>
        </p:spPr>
        <p:txBody>
          <a:bodyPr wrap="square" anchor="t" lIns="38100" rIns="38100" tIns="12700" bIns="12700">
            <a:spAutoFit/>
          </a:bodyPr>
          <a:lstStyle/>
          <a:p>
            <a:pPr algn="l">
              <a:lnSpc>
                <a:spcPct val="110000"/>
              </a:lnSpc>
              <a:spcBef>
                <a:spcPts val="0"/>
              </a:spcBef>
              <a:spcAft>
                <a:spcPts val="400"/>
              </a:spcAft>
            </a:pPr>
            <a:r>
              <a:rPr sz="1250" b="0" i="0">
                <a:solidFill>
                  <a:srgbClr val="1A2430"/>
                </a:solidFill>
                <a:latin typeface="Calibri"/>
              </a:rPr>
              <a:t>Déclaré dans l'AIModel, pas évaluation LLM-as-a-judge temps réel.</a:t>
            </a:r>
          </a:p>
        </p:txBody>
      </p:sp>
      <p:sp>
        <p:nvSpPr>
          <p:cNvPr id="13" name="Rounded Rectangle 12"/>
          <p:cNvSpPr/>
          <p:nvPr/>
        </p:nvSpPr>
        <p:spPr>
          <a:xfrm>
            <a:off x="502920" y="3767328"/>
            <a:ext cx="11155680" cy="1143000"/>
          </a:xfrm>
          <a:prstGeom prst="roundRect">
            <a:avLst/>
          </a:prstGeom>
          <a:solidFill>
            <a:srgbClr val="FEF3E2"/>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858768"/>
            <a:ext cx="10789920" cy="329184"/>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F59E0B"/>
                </a:solidFill>
                <a:latin typeface="Calibri"/>
              </a:rPr>
              <a:t>Enforcement sur Envoy seul</a:t>
            </a:r>
          </a:p>
        </p:txBody>
      </p:sp>
      <p:sp>
        <p:nvSpPr>
          <p:cNvPr id="15" name="TextBox 14"/>
          <p:cNvSpPr txBox="1"/>
          <p:nvPr/>
        </p:nvSpPr>
        <p:spPr>
          <a:xfrm>
            <a:off x="713232" y="4224528"/>
            <a:ext cx="10789920" cy="594360"/>
          </a:xfrm>
          <a:prstGeom prst="rect">
            <a:avLst/>
          </a:prstGeom>
          <a:noFill/>
        </p:spPr>
        <p:txBody>
          <a:bodyPr wrap="square" anchor="t" lIns="38100" rIns="38100" tIns="12700" bIns="12700">
            <a:spAutoFit/>
          </a:bodyPr>
          <a:lstStyle/>
          <a:p>
            <a:pPr algn="l">
              <a:lnSpc>
                <a:spcPct val="110000"/>
              </a:lnSpc>
              <a:spcBef>
                <a:spcPts val="0"/>
              </a:spcBef>
              <a:spcAft>
                <a:spcPts val="400"/>
              </a:spcAft>
            </a:pPr>
            <a:r>
              <a:rPr sz="1250" b="0" i="0">
                <a:solidFill>
                  <a:srgbClr val="1A2430"/>
                </a:solidFill>
                <a:latin typeface="Calibri"/>
              </a:rPr>
              <a:t>Kong, NGINX, Istio non supportés dans cette version.</a:t>
            </a:r>
          </a:p>
        </p:txBody>
      </p:sp>
      <p:sp>
        <p:nvSpPr>
          <p:cNvPr id="16" name="Rounded Rectangle 15"/>
          <p:cNvSpPr/>
          <p:nvPr/>
        </p:nvSpPr>
        <p:spPr>
          <a:xfrm>
            <a:off x="502920" y="5001768"/>
            <a:ext cx="11155680" cy="1143000"/>
          </a:xfrm>
          <a:prstGeom prst="roundRect">
            <a:avLst/>
          </a:prstGeom>
          <a:solidFill>
            <a:srgbClr val="FEF3E2"/>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093208"/>
            <a:ext cx="10789920" cy="329184"/>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F59E0B"/>
                </a:solidFill>
                <a:latin typeface="Calibri"/>
              </a:rPr>
              <a:t>Tetragon = privilèges noyau</a:t>
            </a:r>
          </a:p>
        </p:txBody>
      </p:sp>
      <p:sp>
        <p:nvSpPr>
          <p:cNvPr id="18" name="TextBox 17"/>
          <p:cNvSpPr txBox="1"/>
          <p:nvPr/>
        </p:nvSpPr>
        <p:spPr>
          <a:xfrm>
            <a:off x="713232" y="5458968"/>
            <a:ext cx="10789920" cy="594360"/>
          </a:xfrm>
          <a:prstGeom prst="rect">
            <a:avLst/>
          </a:prstGeom>
          <a:noFill/>
        </p:spPr>
        <p:txBody>
          <a:bodyPr wrap="square" anchor="t" lIns="38100" rIns="38100" tIns="12700" bIns="12700">
            <a:spAutoFit/>
          </a:bodyPr>
          <a:lstStyle/>
          <a:p>
            <a:pPr algn="l">
              <a:lnSpc>
                <a:spcPct val="110000"/>
              </a:lnSpc>
              <a:spcBef>
                <a:spcPts val="0"/>
              </a:spcBef>
              <a:spcAft>
                <a:spcPts val="400"/>
              </a:spcAft>
            </a:pPr>
            <a:r>
              <a:rPr sz="1250" b="0" i="0">
                <a:solidFill>
                  <a:srgbClr val="1A2430"/>
                </a:solidFill>
                <a:latin typeface="Calibri"/>
              </a:rPr>
              <a:t>Requiert CAP_BPF. Désactivable sans impact sur le plan gateway.</a:t>
            </a:r>
          </a:p>
        </p:txBody>
      </p:sp>
      <p:sp>
        <p:nvSpPr>
          <p:cNvPr id="19" name="TextBox 18"/>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v0.5.2  ·  Apache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7200"/>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41148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400" b="1" i="0">
                <a:solidFill>
                  <a:srgbClr val="1EC87A"/>
                </a:solidFill>
                <a:latin typeface="Calibri"/>
              </a:rPr>
              <a:t>MERCI</a:t>
            </a:r>
          </a:p>
        </p:txBody>
      </p:sp>
      <p:sp>
        <p:nvSpPr>
          <p:cNvPr id="6" name="TextBox 5"/>
          <p:cNvSpPr txBox="1"/>
          <p:nvPr/>
        </p:nvSpPr>
        <p:spPr>
          <a:xfrm>
            <a:off x="822960" y="1920240"/>
            <a:ext cx="10515600" cy="82296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5200" b="1" i="0">
                <a:solidFill>
                  <a:srgbClr val="FFFFFF"/>
                </a:solidFill>
                <a:latin typeface="Calibri"/>
              </a:rPr>
              <a:t>Questions ?</a:t>
            </a:r>
          </a:p>
        </p:txBody>
      </p:sp>
      <p:sp>
        <p:nvSpPr>
          <p:cNvPr id="7" name="TextBox 6"/>
          <p:cNvSpPr txBox="1"/>
          <p:nvPr/>
        </p:nvSpPr>
        <p:spPr>
          <a:xfrm>
            <a:off x="822960" y="3108960"/>
            <a:ext cx="10607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EC87A"/>
                </a:solidFill>
                <a:latin typeface="Calibri"/>
              </a:rPr>
              <a:t>Démo live → </a:t>
            </a:r>
            <a:r>
              <a:rPr sz="1500" b="0" i="0">
                <a:solidFill>
                  <a:srgbClr val="B8C6D4"/>
                </a:solidFill>
                <a:latin typeface="Calibri"/>
              </a:rPr>
              <a:t>http://localhost:3000</a:t>
            </a:r>
            <a:r>
              <a:rPr sz="1300" b="0" i="0">
                <a:solidFill>
                  <a:srgbClr val="5B6670"/>
                </a:solidFill>
                <a:latin typeface="Calibri"/>
              </a:rPr>
              <a:t>  ·  Grafana radar + Shadow AI + Budget</a:t>
            </a:r>
          </a:p>
        </p:txBody>
      </p:sp>
      <p:sp>
        <p:nvSpPr>
          <p:cNvPr id="8" name="TextBox 7"/>
          <p:cNvSpPr txBox="1"/>
          <p:nvPr/>
        </p:nvSpPr>
        <p:spPr>
          <a:xfrm>
            <a:off x="822960" y="4069080"/>
            <a:ext cx="10607040" cy="40233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GitHub  :  </a:t>
            </a:r>
            <a:r>
              <a:rPr sz="1300" b="0" i="0">
                <a:solidFill>
                  <a:srgbClr val="B8C6D4"/>
                </a:solidFill>
                <a:latin typeface="Calibri"/>
              </a:rPr>
              <a:t>github.com/ihsenalaya/ai-sovereign-finops-operator</a:t>
            </a:r>
          </a:p>
        </p:txBody>
      </p:sp>
      <p:sp>
        <p:nvSpPr>
          <p:cNvPr id="9" name="TextBox 8"/>
          <p:cNvSpPr txBox="1"/>
          <p:nvPr/>
        </p:nvSpPr>
        <p:spPr>
          <a:xfrm>
            <a:off x="822960" y="4544568"/>
            <a:ext cx="10607040" cy="40233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Licence  :  </a:t>
            </a:r>
            <a:r>
              <a:rPr sz="1300" b="0" i="0">
                <a:solidFill>
                  <a:srgbClr val="B8C6D4"/>
                </a:solidFill>
                <a:latin typeface="Calibri"/>
              </a:rPr>
              <a:t>Apache 2.0  ·  v0.5.2</a:t>
            </a:r>
          </a:p>
        </p:txBody>
      </p:sp>
      <p:sp>
        <p:nvSpPr>
          <p:cNvPr id="10" name="TextBox 9"/>
          <p:cNvSpPr txBox="1"/>
          <p:nvPr/>
        </p:nvSpPr>
        <p:spPr>
          <a:xfrm>
            <a:off x="822960" y="5020056"/>
            <a:ext cx="10607040" cy="40233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11 CRDs  :  </a:t>
            </a:r>
            <a:r>
              <a:rPr sz="1300" b="0" i="0">
                <a:solidFill>
                  <a:srgbClr val="B8C6D4"/>
                </a:solidFill>
                <a:latin typeface="Calibri"/>
              </a:rPr>
              <a:t>23 métriques  ·  3 providers réels  ·  ./deploy.sh up</a:t>
            </a:r>
          </a:p>
        </p:txBody>
      </p:sp>
      <p:sp>
        <p:nvSpPr>
          <p:cNvPr id="11" name="TextBox 10"/>
          <p:cNvSpPr txBox="1"/>
          <p:nvPr/>
        </p:nvSpPr>
        <p:spPr>
          <a:xfrm>
            <a:off x="822960" y="5495544"/>
            <a:ext cx="10607040" cy="40233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Contact  :  </a:t>
            </a:r>
            <a:r>
              <a:rPr sz="1300" b="0" i="0">
                <a:solidFill>
                  <a:srgbClr val="B8C6D4"/>
                </a:solidFill>
                <a:latin typeface="Calibri"/>
              </a:rPr>
              <a:t>articlouet@gmail.com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