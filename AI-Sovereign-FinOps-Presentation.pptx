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00"/>
            <a:ext cx="12191695" cy="635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C87A"/>
                </a:solidFill>
                <a:latin typeface="Calibri"/>
              </a:rPr>
              <a:t>OPÉRATEUR KUBERNETES  ·  FINOPS &amp; SOUVERAINETÉ POUR L'IA D'ENTREPRISE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607040" cy="1463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AI Sovereign FinOps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607040" cy="13716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6D4"/>
                </a:solidFill>
                <a:latin typeface="Calibri"/>
              </a:rPr>
              <a:t>Gouverner les appels LLM d'une organisation — coût, attribution, fournisseurs,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6D4"/>
                </a:solidFill>
                <a:latin typeface="Calibri"/>
              </a:rPr>
              <a:t>résidence des données, budgets, arbitrage API managée vs auto-hébergement — en pur déclaratif (CRDs).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EC87A"/>
                </a:solidFill>
                <a:latin typeface="Calibri"/>
              </a:rPr>
              <a:t>Catalogue out-of-the-box · 2 plans de souveraineté (gateway + eBPF/shadow-AI) · enforce réel · 7 CRDs · 16 métriques · CNCF · Apache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POURQUOI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Trois angles morts quand l'IA arrive plus vite que sa gouvernance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430"/>
                </a:solidFill>
                <a:latin typeface="Calibri"/>
              </a:rPr>
              <a:t>Récurrents en secteur régulé (santé, finance, assurance, public, industrie critique) 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6118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611880" cy="54864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01952"/>
            <a:ext cx="3246120" cy="41148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 · Opacité des coûts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3154680" cy="18288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Personne ne sait quelle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équipe / app dépense quoi,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ni quand un modèle moins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cher suffirait.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36118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3611880" cy="548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901952"/>
            <a:ext cx="3246120" cy="41148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 · Souveraineté &amp; conformité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560320"/>
            <a:ext cx="3154680" cy="18288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La résidence des données et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l'usage de données sensibles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sont gérés au cas par cas,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voire pas du 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828800"/>
            <a:ext cx="36118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828800"/>
            <a:ext cx="3611880" cy="54864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901952"/>
            <a:ext cx="3246120" cy="41148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 · Managé vs auto-hébergé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560320"/>
            <a:ext cx="3154680" cy="18288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Aucune visibilité sur 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volume à partir duquel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l'auto-hébergement GPU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Calibri"/>
              </a:rPr>
              <a:t>devient rentable.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00600"/>
            <a:ext cx="1115568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937760"/>
            <a:ext cx="10789920" cy="1097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B2D"/>
                </a:solidFill>
                <a:latin typeface="Calibri"/>
              </a:rPr>
              <a:t>La réponse : </a:t>
            </a:r>
            <a:r>
              <a:rPr sz="1500" b="0" i="0">
                <a:solidFill>
                  <a:srgbClr val="1A2430"/>
                </a:solidFill>
                <a:latin typeface="Calibri"/>
              </a:rPr>
              <a:t>transformer ces décisions ad hoc en politiques Kubernetes versionnées, auditables et réconciliées en continu.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53E3E"/>
                </a:solidFill>
                <a:latin typeface="Calibri"/>
              </a:rPr>
              <a:t>⚠️  Le produit ne promet PAS la conformité juridique : il produit une traçabilité exploitable et un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430"/>
                </a:solidFill>
                <a:latin typeface="Calibri"/>
              </a:rPr>
              <a:t>dossier d'audit. Modes gradués : reportOnly (observe) → warn (alerte) → enforce (réécrit la route Envoy).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COMMENT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L'opérateur = plan de contrôle ; la gateway reste le plan de données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11155680" cy="1371600"/>
          </a:xfrm>
          <a:prstGeom prst="round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77724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PLAN DE DONNÉES — observé ; en mode enforce, la route Envoy (AIGatewayRoute) est réécrite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83080"/>
            <a:ext cx="31089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108960" cy="6858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Applications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828800"/>
            <a:ext cx="548640" cy="5486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EC87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783080"/>
            <a:ext cx="31089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828800"/>
            <a:ext cx="3108960" cy="6858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Gateway IA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Envoy AI 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828800"/>
            <a:ext cx="548640" cy="5486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EC87A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783080"/>
            <a:ext cx="31089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B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828800"/>
            <a:ext cx="3108960" cy="6858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Fournisseurs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OpenAI · Mistral · auto-hébergé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743200"/>
            <a:ext cx="731520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↓  télémétrie (Prometheus / ConfigMap / Envoy)    ↑  enforce : réécriture de la route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154680"/>
            <a:ext cx="11155680" cy="1874519"/>
          </a:xfrm>
          <a:prstGeom prst="round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18688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PLAN DE CONTRÔLE — l'opérateur, piloté par des CRDs déclaratives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11880"/>
            <a:ext cx="1664208" cy="1097280"/>
          </a:xfrm>
          <a:prstGeom prst="roundRect">
            <a:avLst/>
          </a:prstGeom>
          <a:solidFill>
            <a:srgbClr val="1B2C42"/>
          </a:solidFill>
          <a:ln w="15875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03320"/>
            <a:ext cx="1664208" cy="9144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87752" y="3611880"/>
            <a:ext cx="1664208" cy="1097280"/>
          </a:xfrm>
          <a:prstGeom prst="roundRect">
            <a:avLst/>
          </a:prstGeom>
          <a:solidFill>
            <a:srgbClr val="1B2C42"/>
          </a:solidFill>
          <a:ln w="15875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87752" y="3703320"/>
            <a:ext cx="1664208" cy="9144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budget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98264" y="3611880"/>
            <a:ext cx="1664208" cy="1097280"/>
          </a:xfrm>
          <a:prstGeom prst="roundRect">
            <a:avLst/>
          </a:prstGeom>
          <a:solidFill>
            <a:srgbClr val="1B2C42"/>
          </a:solidFill>
          <a:ln w="15875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98264" y="3703320"/>
            <a:ext cx="1664208" cy="9144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sovereignty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3611880"/>
            <a:ext cx="1664208" cy="1097280"/>
          </a:xfrm>
          <a:prstGeom prst="roundRect">
            <a:avLst/>
          </a:prstGeom>
          <a:solidFill>
            <a:srgbClr val="1B2C42"/>
          </a:solidFill>
          <a:ln w="15875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3703320"/>
            <a:ext cx="1664208" cy="9144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breakeven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9288" y="3611880"/>
            <a:ext cx="1664208" cy="1097280"/>
          </a:xfrm>
          <a:prstGeom prst="roundRect">
            <a:avLst/>
          </a:prstGeom>
          <a:solidFill>
            <a:srgbClr val="1B2C42"/>
          </a:solidFill>
          <a:ln w="15875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3703320"/>
            <a:ext cx="1664208" cy="9144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29800" y="3611880"/>
            <a:ext cx="1664208" cy="1097280"/>
          </a:xfrm>
          <a:prstGeom prst="roundRect">
            <a:avLst/>
          </a:prstGeom>
          <a:solidFill>
            <a:srgbClr val="1B2C42"/>
          </a:solidFill>
          <a:ln w="15875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3703320"/>
            <a:ext cx="1664208" cy="9144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reporting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212080"/>
            <a:ext cx="33832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257800"/>
            <a:ext cx="3383280" cy="77724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Métriques ai_finops_*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Prometheus → Grafana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5212080"/>
            <a:ext cx="33832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60" y="5257800"/>
            <a:ext cx="3383280" cy="77724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.status des CRDs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coût · budget · findings · reco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5212080"/>
            <a:ext cx="33832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92440" y="5257800"/>
            <a:ext cx="3383280" cy="77724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Rapport ConfigMap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0"/>
                </a:solidFill>
                <a:latin typeface="Calibri"/>
              </a:rPr>
              <a:t>Markdown / JSON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FIL CONDUCTEUR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Chaque fonctionnalité répond à un problème précis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11155680" cy="6126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63500" cy="61264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3657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B2D"/>
                </a:solidFill>
                <a:latin typeface="Calibri"/>
              </a:rPr>
              <a:t>Collecteurs de télémétrie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325880"/>
            <a:ext cx="548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5B6670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325880"/>
            <a:ext cx="64922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430"/>
                </a:solidFill>
                <a:latin typeface="Calibri"/>
              </a:rPr>
              <a:t>Les moteurs ont besoin de données d'usage sans dépendre d'une gateway donnée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02536"/>
            <a:ext cx="11155680" cy="612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002536"/>
            <a:ext cx="63500" cy="612648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002536"/>
            <a:ext cx="3657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B2D"/>
                </a:solidFill>
                <a:latin typeface="Calibri"/>
              </a:rPr>
              <a:t>Moteur de coût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02536"/>
            <a:ext cx="548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E53E3E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002536"/>
            <a:ext cx="64922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430"/>
                </a:solidFill>
                <a:latin typeface="Calibri"/>
              </a:rPr>
              <a:t>Opacité : qui dépense quoi, quel modèle coûte le plus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79192"/>
            <a:ext cx="11155680" cy="6126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679192"/>
            <a:ext cx="63500" cy="6126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79192"/>
            <a:ext cx="3657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B2D"/>
                </a:solidFill>
                <a:latin typeface="Calibri"/>
              </a:rPr>
              <a:t>Moteur de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679192"/>
            <a:ext cx="548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59E0B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679192"/>
            <a:ext cx="64922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430"/>
                </a:solidFill>
                <a:latin typeface="Calibri"/>
              </a:rPr>
              <a:t>Aucune alerte graduée avant d'atteindre le budget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355848"/>
            <a:ext cx="11155680" cy="612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355848"/>
            <a:ext cx="63500" cy="61264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355848"/>
            <a:ext cx="3657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B2D"/>
                </a:solidFill>
                <a:latin typeface="Calibri"/>
              </a:rPr>
              <a:t>Moteur de souveraineté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355848"/>
            <a:ext cx="548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3B82F6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355848"/>
            <a:ext cx="64922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430"/>
                </a:solidFill>
                <a:latin typeface="Calibri"/>
              </a:rPr>
              <a:t>Où part la donnée ? quel fournisseur est autorisé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032504"/>
            <a:ext cx="11155680" cy="6126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032504"/>
            <a:ext cx="63500" cy="61264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32504"/>
            <a:ext cx="3657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B2D"/>
                </a:solidFill>
                <a:latin typeface="Calibri"/>
              </a:rPr>
              <a:t>Moteur break-even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032504"/>
            <a:ext cx="548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EC87A"/>
                </a:solidFill>
                <a:latin typeface="Calibri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032504"/>
            <a:ext cx="64922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430"/>
                </a:solidFill>
                <a:latin typeface="Calibri"/>
              </a:rPr>
              <a:t>API managée ou GPU auto-hébergé : à partir de quand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709160"/>
            <a:ext cx="11155680" cy="612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709160"/>
            <a:ext cx="63500" cy="612648"/>
          </a:xfrm>
          <a:prstGeom prst="rect">
            <a:avLst/>
          </a:prstGeom>
          <a:solidFill>
            <a:srgbClr val="2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709160"/>
            <a:ext cx="3657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B2D"/>
                </a:solidFill>
                <a:latin typeface="Calibri"/>
              </a:rPr>
              <a:t>Moteur de recommandation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709160"/>
            <a:ext cx="548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A06A"/>
                </a:solidFill>
                <a:latin typeface="Calibri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709160"/>
            <a:ext cx="64922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430"/>
                </a:solidFill>
                <a:latin typeface="Calibri"/>
              </a:rPr>
              <a:t>Le constat ne dit pas QUOI faire, ni combien on gagne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385816"/>
            <a:ext cx="11155680" cy="6126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385816"/>
            <a:ext cx="63500" cy="612648"/>
          </a:xfrm>
          <a:prstGeom prst="rect">
            <a:avLst/>
          </a:prstGeom>
          <a:solidFill>
            <a:srgbClr val="7A4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385816"/>
            <a:ext cx="3657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B2D"/>
                </a:solidFill>
                <a:latin typeface="Calibri"/>
              </a:rPr>
              <a:t>Reporting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385816"/>
            <a:ext cx="548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7A4DC8"/>
                </a:solidFill>
                <a:latin typeface="Calibr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5385816"/>
            <a:ext cx="64922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430"/>
                </a:solidFill>
                <a:latin typeface="Calibri"/>
              </a:rPr>
              <a:t>Besoin d'un dossier d'audit lisible et reproductible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FONCTIONNALITÉ — PRÉREQUIS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Collecteurs de télémétrie : brancher en lecture seule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051560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27432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64208"/>
            <a:ext cx="1069848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430"/>
                </a:solidFill>
                <a:latin typeface="Calibri"/>
              </a:rPr>
              <a:t>Les moteurs ont besoin du nombre de requêtes, des tokens in/out, du modèle, du fournisseur, du namespace/app/équipe — mais ne doivent dépendre d'aucune gateway en particulier.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5486400" cy="2788920"/>
          </a:xfrm>
          <a:prstGeom prst="roundRect">
            <a:avLst/>
          </a:prstGeom>
          <a:solidFill>
            <a:srgbClr val="E9F8F1"/>
          </a:solidFill>
          <a:ln w="12700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7A4D"/>
                </a:solidFill>
                <a:latin typeface="Calibri"/>
              </a:rPr>
              <a:t>CE QUE FAIT LE MOTEUR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Abstraction TelemetryCollector : une interface, 4 implémentations.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prometheus — scrute un endpoint, parse les compteurs ai_finops_*.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configmap — lit des échantillons d'usage depuis un ConfigMap.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aigw — Envoy AI Gateway (histogramme gen_ai_*), source réelle.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fake — opt-in EXPLICITE (mode:fake) ; jamais de fallback silencieux.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514600"/>
            <a:ext cx="5486400" cy="27889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Branchement non-intrusif sur une gateway existante.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Pas de source réelle → erreur + condition NoTelemetrySource.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Aucun chiffre inventé : crédibilité du plan de contrôle.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Normalise tout en UsageSample, base commune des 6 moteurs.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32120"/>
            <a:ext cx="11155680" cy="640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Métrique / sortie :  </a:t>
            </a:r>
            <a:r>
              <a:rPr sz="1200" b="0" i="0">
                <a:solidFill>
                  <a:srgbClr val="1A2430"/>
                </a:solidFill>
                <a:latin typeface="Calibri"/>
              </a:rPr>
              <a:t>UsageSample{Namespace, Application, Team, Provider, Model, Requests, In/OutputTokens, Errors, Latency}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FONCTIONNALITÉ 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Moteur de coût : qui dépense quoi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051560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27432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64208"/>
            <a:ext cx="1069848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430"/>
                </a:solidFill>
                <a:latin typeface="Calibri"/>
              </a:rPr>
              <a:t>Opacité des coûts : la facture LLM est un bloc unique. Impossible de dire quelle équipe ou application dépense le plus, ni de repérer qu'un modèle moins cher suffirait.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5486400" cy="2788920"/>
          </a:xfrm>
          <a:prstGeom prst="roundRect">
            <a:avLst/>
          </a:prstGeom>
          <a:solidFill>
            <a:srgbClr val="E9F8F1"/>
          </a:solidFill>
          <a:ln w="12700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7A4D"/>
                </a:solidFill>
                <a:latin typeface="Calibri"/>
              </a:rPr>
              <a:t>CE QUE FAIT LE MOTEUR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Coût calculé depuis les vrais tokens × prix déclaré par AIProvider.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Ventilation par modèle, fournisseur, namespace, équipe, app.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Coût moyen / requête et coût / token.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Modèles vus sans pricing → comptés non pricés (data-quality).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Moteur pur, sans dépendance K8s, ~95% de couverture de tests.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514600"/>
            <a:ext cx="5486400" cy="27889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Chargeback / showback par centre de coût.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Repère les modèles non tarifés (catalogue à compléter).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Fondation des moteurs budget, break-even et du rapport.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Pas de conversion multi-devise en MVP (devise dominante).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32120"/>
            <a:ext cx="11155680" cy="868680"/>
          </a:xfrm>
          <a:prstGeom prst="roundRect">
            <a:avLst/>
          </a:prstGeom>
          <a:solidFill>
            <a:srgbClr val="10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05272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coût = (tokens / 1 000 000) × prixParMillion   —   pour l'input ET l'output, puis agrégé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B8C6D4"/>
                </a:solidFill>
                <a:latin typeface="Calibri"/>
              </a:rPr>
              <a:t>ai_finops_cost_eur · ai_finops_input/output_tokens · ai_finops_requests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FONCTIONNALITÉ 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Moteur de budget : alerter avant le dépassement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051560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27432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64208"/>
            <a:ext cx="1069848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430"/>
                </a:solidFill>
                <a:latin typeface="Calibri"/>
              </a:rPr>
              <a:t>Sans garde-fou, on découvre le dépassement de budget IA après coup, sur la facture du mois. Aucun signal intermédiaire, aucune action graduée.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5486400" cy="2788920"/>
          </a:xfrm>
          <a:prstGeom prst="roundRect">
            <a:avLst/>
          </a:prstGeom>
          <a:solidFill>
            <a:srgbClr val="E9F8F1"/>
          </a:solidFill>
          <a:ln w="12700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7A4D"/>
                </a:solidFill>
                <a:latin typeface="Calibri"/>
              </a:rPr>
              <a:t>CE QUE FAIT LE MOTEUR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Compare la dépense d'une cible (ns/équipe/app) à un budget.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usagePercent = round(spend / budget × 100).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Phases : WithinBudget → Warning → Critical → Exceeded.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Actions par seuil (onWarning / onCritical / onHardLimit).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Modèle de repli (fallbackModelRef) : dégradation, pas blocage.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514600"/>
            <a:ext cx="5486400" cy="27889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On voit venir le dépassement, pas après la facture.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Dégradation gracieuse plutôt que coupure sèche.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Métrique d'enforcement émise par action déclenchée.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État lisible dans le .status (phase, % d'usage, dépense).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32120"/>
            <a:ext cx="11155680" cy="868680"/>
          </a:xfrm>
          <a:prstGeom prst="roundRect">
            <a:avLst/>
          </a:prstGeom>
          <a:solidFill>
            <a:srgbClr val="10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05272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≥70% Warning   ·   ≥90% Critical   ·   ≥100% Exceeded   (seuils configurables par policy)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B8C6D4"/>
                </a:solidFill>
                <a:latin typeface="Calibri"/>
              </a:rPr>
              <a:t>ai_finops_budget_usage_percent{ns,policy} · ai_finops_enforcement_actions{policy,ns,app,mode,action} · Event K8s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FONCTIONNALITÉ 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Moteur de souveraineté : où part la donnée ?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051560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27432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64208"/>
            <a:ext cx="1069848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430"/>
                </a:solidFill>
                <a:latin typeface="Calibri"/>
              </a:rPr>
              <a:t>Souveraineté &amp; conformité : en secteur régulé il faut savoir où sont traitées les données et si le fournisseur est autorisé — aujourd'hui géré au cas par cas, sans trace.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5486400" cy="2788920"/>
          </a:xfrm>
          <a:prstGeom prst="roundRect">
            <a:avLst/>
          </a:prstGeom>
          <a:solidFill>
            <a:srgbClr val="E9F8F1"/>
          </a:solidFill>
          <a:ln w="12700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7A4D"/>
                </a:solidFill>
                <a:latin typeface="Calibri"/>
              </a:rPr>
              <a:t>CE QUE FAIT LE MOTEUR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Confronte CHAQUE flux observé (ns/app → modèle → fournisseur).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Zone interdite → critical ; hors zones autorisées → warning.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Données sensibles vers fournisseur managé non habilité → warning.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NormalizeZone : 'france'→FR, 'eastus'→US ; EU couvre les membres.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Findings attribués au flux + nombre de requêtes concernées.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514600"/>
            <a:ext cx="5486400" cy="27889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Détecte les flux non conformes, attribués à l'app fautive.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Volume réel de requêtes à risque (pas juste un booléen).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Traçabilité d'audit (RGPD / AI Act), pas une attestation.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reportOnly = radar ; enforce = réécrit la route Envoy (slide 9).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32120"/>
            <a:ext cx="11155680" cy="640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Métrique / sortie :  </a:t>
            </a:r>
            <a:r>
              <a:rPr sz="1200" b="0" i="0">
                <a:solidFill>
                  <a:srgbClr val="1A2430"/>
                </a:solidFill>
                <a:latin typeface="Calibri"/>
              </a:rPr>
              <a:t>ai_finops_sovereignty_findings · ai_finops_sovereignty_requests{ns,app,policy,sev} · ai_finops_cost_by_zone_eur{zone}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PLAN DE CONTRÔLE →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Enforcement : du constat à l'action dans la gateway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051560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27432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64208"/>
            <a:ext cx="1069848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430"/>
                </a:solidFill>
                <a:latin typeface="Calibri"/>
              </a:rPr>
              <a:t>Détecter ne suffit pas en secteur régulé : quand une app envoie ses données vers un fournisseur hors zone autorisée, il faut pouvoir RÉELLEMENT rerouter le trafic — pas seulement le signaler.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5486400" cy="2788920"/>
          </a:xfrm>
          <a:prstGeom prst="roundRect">
            <a:avLst/>
          </a:prstGeom>
          <a:solidFill>
            <a:srgbClr val="E9F8F1"/>
          </a:solidFill>
          <a:ln w="12700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7A4D"/>
                </a:solidFill>
                <a:latin typeface="Calibri"/>
              </a:rPr>
              <a:t>CE QUE FAIT LE MOTEUR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Modes gradués par policy : reportOnly → warn → enforce.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Moteur d'enforcement pur (décisions) + actuateur de gateway.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enforce réécrit l'AIGatewayRoute Envoy (client unstructured) 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modèle interdit → backend conforme + bodyMutation du modèle.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Réversible : backend d'origine sauvé en annotation, revert auto.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514600"/>
            <a:ext cx="5486400" cy="27889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Reroute RÉEL validé : gpt-4o (US) → Mistral EU (Azure Foundry).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Le fournisseur interdit n'est jamais atteint, la requête réussit.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Budget : métrique d'enforcement émise par action déclenchée.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Finalizers : revert propre à la suppression de la policy.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Plan de données inchangé hors enforce (radar par défaut).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32120"/>
            <a:ext cx="11155680" cy="640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Métrique / sortie :  </a:t>
            </a:r>
            <a:r>
              <a:rPr sz="1200" b="0" i="0">
                <a:solidFill>
                  <a:srgbClr val="1A2430"/>
                </a:solidFill>
                <a:latin typeface="Calibri"/>
              </a:rPr>
              <a:t>ai_finops_enforcement_actions{policy, namespace, application, mode, action, actuated}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FONCTIONNALITÉ 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Moteur break-even : API managée ou GPU auto-hébergé ?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051560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27432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64208"/>
            <a:ext cx="1069848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430"/>
                </a:solidFill>
                <a:latin typeface="Calibri"/>
              </a:rPr>
              <a:t>Mauvais arbitrage économique : les équipes ne savent pas à partir de quel volume héberger leur propre modèle sur GPU devient moins cher que l'API managée.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5486400" cy="2788920"/>
          </a:xfrm>
          <a:prstGeom prst="roundRect">
            <a:avLst/>
          </a:prstGeom>
          <a:solidFill>
            <a:srgbClr val="E9F8F1"/>
          </a:solidFill>
          <a:ln w="12700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7A4D"/>
                </a:solidFill>
                <a:latin typeface="Calibri"/>
              </a:rPr>
              <a:t>CE QUE FAIT LE MOTEUR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Coût managé/mois = coût tokens + frais fixes fournisseur.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Coût auto-hébergé/mois = GPU + ops + stockage/réseau.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Économie mensuelle, puis payback = migration / économie.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Verdict : keep-managed / self-host (≤ seuil) / investigate.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Extrapole l'usage observé à un mois (seuil payback déf. 6 mois).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514600"/>
            <a:ext cx="5486400" cy="27889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Décision d'investissement GPU fondée sur l'usage réel.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Chiffre l'économie potentielle et le délai de retour.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Coûts GPU/ops fournis par l'utilisateur (hypothèses explicites).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Se recoupe avec la souveraineté (héberger en UE = 2 gains).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32120"/>
            <a:ext cx="11155680" cy="868680"/>
          </a:xfrm>
          <a:prstGeom prst="roundRect">
            <a:avLst/>
          </a:prstGeom>
          <a:solidFill>
            <a:srgbClr val="10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05272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savings = managé − auto-hébergé   ·   payback (mois) = coût_migration / savings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B8C6D4"/>
                </a:solidFill>
                <a:latin typeface="Calibri"/>
              </a:rPr>
              <a:t>ai_finops_breakeven_savings_eur{namespace, analysis}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FONCTIONNALITÉ 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Moteur de recommandation : passer du constat à l'action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051560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27432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64208"/>
            <a:ext cx="1069848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430"/>
                </a:solidFill>
                <a:latin typeface="Calibri"/>
              </a:rPr>
              <a:t>Mesurer ne suffit pas : il faut dire QUOI faire, chiffré et priorisé — sans noyer l'équipe sous des suggestions à faible gain.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5486400" cy="2788920"/>
          </a:xfrm>
          <a:prstGeom prst="roundRect">
            <a:avLst/>
          </a:prstGeom>
          <a:solidFill>
            <a:srgbClr val="E9F8F1"/>
          </a:solidFill>
          <a:ln w="12700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7A4D"/>
                </a:solidFill>
                <a:latin typeface="Calibri"/>
              </a:rPr>
              <a:t>CE QUE FAIT LE MOTEUR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Croise usage + catalogue + findings de souveraineté.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cost-saving : trouve le modèle le moins cher pour chaque app.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Filtre anti-bruit : suggéré seulement si gain ≥ 20% du coût.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sovereignty (critical) : requêtes/coût vers provider non conforme.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data-quality (warning) : modèle sans prix → créer AIModel/AIProvider.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514600"/>
            <a:ext cx="5486400" cy="27889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Liste d'actions priorisée (sévérité, puis € d'économie).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Chaque action attribuée à son app (namespace/application).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Économie chiffrée en € sur la fenêtre observée.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Action concrète : modèle courant → modèle recommandé.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Moteur pur et testé (recommendationengine).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32120"/>
            <a:ext cx="11155680" cy="640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Métrique / sortie :  </a:t>
            </a:r>
            <a:r>
              <a:rPr sz="1200" b="0" i="0">
                <a:solidFill>
                  <a:srgbClr val="1A2430"/>
                </a:solidFill>
                <a:latin typeface="Calibri"/>
              </a:rPr>
              <a:t>ai_finops_recommendations · _potential_savings_eur · _potential_savings_by_app_eur · _cost_saving_eur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FONCTIONNALITÉ 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Reporting : un dossier d'audit lisible et reproductible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051560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27432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64208"/>
            <a:ext cx="1069848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430"/>
                </a:solidFill>
                <a:latin typeface="Calibri"/>
              </a:rPr>
              <a:t>Les constats de coût et de souveraineté restent éparpillés. Il faut un livrable unique, lisible par un humain ET exploitable par l'outillage, pour préparer un audit.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5486400" cy="2788920"/>
          </a:xfrm>
          <a:prstGeom prst="roundRect">
            <a:avLst/>
          </a:prstGeom>
          <a:solidFill>
            <a:srgbClr val="E9F8F1"/>
          </a:solidFill>
          <a:ln w="12700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7A4D"/>
                </a:solidFill>
                <a:latin typeface="Calibri"/>
              </a:rPr>
              <a:t>CE QUE FAIT LE MOTEUR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Rend un rapport en Markdown (lisible) et JSON (contrat stable).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Résumé exécutif : coût total, requêtes, tokens, coût/req, coût/token.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Coût par modèle / fournisseur / équipe + top modèles.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Findings de souveraineté + recommandations + limites &amp; hypothèses.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Publié dans un ConfigMap &lt;nom&gt;-report (GC automatique).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514600"/>
            <a:ext cx="5486400" cy="27889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Un seul livrable consolidé, daté et reproductible.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Mentionne explicitement : préparation d'audit, pas attestation.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Rappelle le mode reportOnly (aucune altération du trafic).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Résultats aussi disponibles dans le .status de l'AIFinOpsReport.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32120"/>
            <a:ext cx="11155680" cy="640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Métrique / sortie :  </a:t>
            </a:r>
            <a:r>
              <a:rPr sz="1200" b="0" i="0">
                <a:solidFill>
                  <a:srgbClr val="1A2430"/>
                </a:solidFill>
                <a:latin typeface="Calibri"/>
              </a:rPr>
              <a:t>kubectl get cm &lt;nom&gt;-report -o jsonpath='{.data.report\.md}'   (et report.json)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PLAN INDÉPENDANT DE LA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Shadow-AI : capter ce qui contourne la gateway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051560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27432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53E3E"/>
                </a:solidFill>
                <a:latin typeface="Calibri"/>
              </a:rPr>
              <a:t>LE 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64208"/>
            <a:ext cx="1069848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430"/>
                </a:solidFill>
                <a:latin typeface="Calibri"/>
              </a:rPr>
              <a:t>Les collecteurs ne voient que le trafic qui PASSE par la gateway. Un pod qui appelle api.openai.com en direct échappe à tout — c'est le shadow-AI, le plus gros angle mort.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5486400" cy="2788920"/>
          </a:xfrm>
          <a:prstGeom prst="roundRect">
            <a:avLst/>
          </a:prstGeom>
          <a:solidFill>
            <a:srgbClr val="E9F8F1"/>
          </a:solidFill>
          <a:ln w="12700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27A4D"/>
                </a:solidFill>
                <a:latin typeface="Calibri"/>
              </a:rPr>
              <a:t>CE QUE FAIT LE MOTEUR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Tetragon (eBPF) observe l'egress par pod DANS le noyau.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L'opérateur classe la destination par zone (EndpointToZone).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Moteur pur shadowengine : zone interdite → critical.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Indépendant de la gateway (tourne même sans AIGateway).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•  Tetragon = DaemonSet standalone (tout CNI, pas Cilium).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514600"/>
            <a:ext cx="5486400" cy="27889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6060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971800"/>
            <a:ext cx="5074920" cy="2240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Ferme l'angle mort : trafic IA hors gouvernance détecté.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Attribué au pod/namespace fautif, par zone de souveraineté.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Données 100% réelles (connexions eBPF), jamais fabriquées.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VALIDÉ LIVE sur AKS : finance → OpenAI US = critical.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430"/>
                </a:solidFill>
                <a:latin typeface="Calibri"/>
              </a:rPr>
              <a:t>✓  Backends futurs : Hubble, capture SNI, gRPC natif.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32120"/>
            <a:ext cx="11155680" cy="640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1B2D"/>
                </a:solidFill>
                <a:latin typeface="Calibri"/>
              </a:rPr>
              <a:t>Métrique / sortie :  </a:t>
            </a:r>
            <a:r>
              <a:rPr sz="1200" b="0" i="0">
                <a:solidFill>
                  <a:srgbClr val="1A2430"/>
                </a:solidFill>
                <a:latin typeface="Calibri"/>
              </a:rPr>
              <a:t>ai_finops_shadow_ai_egress{namespace, application, zone, provider, severity}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TRANSVERSE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Observabilité : 16 métriques ai_finops_* exposées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430"/>
                </a:solidFill>
                <a:latin typeface="Calibri"/>
              </a:rPr>
              <a:t>Vérifiées dans </a:t>
            </a:r>
            <a:r>
              <a:rPr sz="1350" b="1" i="0">
                <a:solidFill>
                  <a:srgbClr val="1EC87A"/>
                </a:solidFill>
                <a:latin typeface="Calibri"/>
              </a:rPr>
              <a:t>internal/metrics/metrics.go</a:t>
            </a:r>
            <a:r>
              <a:rPr sz="1350" b="0" i="0">
                <a:solidFill>
                  <a:srgbClr val="1A2430"/>
                </a:solidFill>
                <a:latin typeface="Calibri"/>
              </a:rPr>
              <a:t> — exposées sur /metrics (:8080). Dashboard Grafana fourni.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5486400" cy="38404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5212080" cy="3840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Usage &amp; coût  (label : namespace)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75688"/>
            <a:ext cx="5486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075688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ai_finops_requests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23160"/>
            <a:ext cx="54864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2423160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ai_finops_input_tokens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70632"/>
            <a:ext cx="5486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770632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ai_finops_output_tokens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18103"/>
            <a:ext cx="54864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118103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ai_finops_cost_eur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65575"/>
            <a:ext cx="5486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465575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ai_finops_projected_monthly_cost_eur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22774"/>
            <a:ext cx="5486400" cy="38404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22774"/>
            <a:ext cx="5212080" cy="3840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Souveraineté · enforcement · shadow-AI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306822"/>
            <a:ext cx="5486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4306822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ai_finops_cost_by_zone_eur {zone}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54294"/>
            <a:ext cx="54864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4654294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ai_finops_sovereignty_findings {ns,app,policy,sev}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001766"/>
            <a:ext cx="5486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5001766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ai_finops_sovereignty_requests {ns,app,policy,sev}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49238"/>
            <a:ext cx="54864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" y="5349238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ai_finops_enforcement_actions {policy,ns,app,mode,action}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696710"/>
            <a:ext cx="5486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5696710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ai_finops_shadow_ai_egress {ns,app,zone,provider,sev}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1691640"/>
            <a:ext cx="548640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1691640"/>
            <a:ext cx="5212080" cy="3840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Budget &amp; optimisation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2075688"/>
            <a:ext cx="5486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36792" y="2075688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ai_finops_budget_usage_percent {ns,policy}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2423160"/>
            <a:ext cx="54864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2423160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ai_finops_potential_savings_eur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770632"/>
            <a:ext cx="5486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36792" y="2770632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ai_finops_potential_savings_by_app_eur {ns,app}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3118103"/>
            <a:ext cx="54864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36792" y="3118103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ai_finops_cost_saving_eur {ns,app,current,reco}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3465575"/>
            <a:ext cx="5486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36792" y="3465575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ai_finops_breakeven_savings_eur {ns,analysis}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3813046"/>
            <a:ext cx="54864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36792" y="3813046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ai_finops_recommendations {type,ns,app,sev}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5074920"/>
            <a:ext cx="5486400" cy="1051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5157216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F1B2D"/>
                </a:solidFill>
                <a:latin typeface="Calibri"/>
              </a:rPr>
              <a:t>À noter : </a:t>
            </a:r>
            <a:r>
              <a:rPr sz="1150" b="0" i="0">
                <a:solidFill>
                  <a:srgbClr val="1A2430"/>
                </a:solidFill>
                <a:latin typeface="Calibri"/>
              </a:rPr>
              <a:t>ai_finops_errors_total n'est PAS exposée — c'est une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métrique lue en entrée par le collecteur Prometheus,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430"/>
                </a:solidFill>
                <a:latin typeface="Calibri"/>
              </a:rPr>
              <a:t>pas une sortie de l'opérateur.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API DÉCLARATIVE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7 CRDs : la gouvernance comme objets Kubernetes (aiops.imperium.io/v1alpha1)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11155680" cy="6126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0800" cy="61264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25880"/>
            <a:ext cx="2834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B2D"/>
                </a:solidFill>
                <a:latin typeface="Calibri"/>
              </a:rPr>
              <a:t>AIGateway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325880"/>
            <a:ext cx="1371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aigw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325880"/>
            <a:ext cx="658368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Gateway IA observée + mode de télémétrie + namespaces gouvernés.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02536"/>
            <a:ext cx="11155680" cy="612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002536"/>
            <a:ext cx="50800" cy="61264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002536"/>
            <a:ext cx="2834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B2D"/>
                </a:solidFill>
                <a:latin typeface="Calibri"/>
              </a:rPr>
              <a:t>AIProvider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002536"/>
            <a:ext cx="1371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aiprov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002536"/>
            <a:ext cx="658368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Fournisseur : région, dataResidency, managé ?, prix/M tokens, conformité.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79192"/>
            <a:ext cx="11155680" cy="6126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679192"/>
            <a:ext cx="50800" cy="61264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679192"/>
            <a:ext cx="2834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B2D"/>
                </a:solidFill>
                <a:latin typeface="Calibri"/>
              </a:rPr>
              <a:t>AIModel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79192"/>
            <a:ext cx="1371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679192"/>
            <a:ext cx="658368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Modèle catalogué, lié à un provider ; tiers qualité/coût, données sensibles.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355848"/>
            <a:ext cx="11155680" cy="612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355848"/>
            <a:ext cx="50800" cy="61264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355848"/>
            <a:ext cx="2834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B2D"/>
                </a:solidFill>
                <a:latin typeface="Calibri"/>
              </a:rPr>
              <a:t>AIBudgetPolicy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355848"/>
            <a:ext cx="1371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aibudget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3355848"/>
            <a:ext cx="658368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Budget €/période par cible + seuils + actions + modèle de repli.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032504"/>
            <a:ext cx="11155680" cy="6126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032504"/>
            <a:ext cx="50800" cy="61264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032504"/>
            <a:ext cx="2834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B2D"/>
                </a:solidFill>
                <a:latin typeface="Calibri"/>
              </a:rPr>
              <a:t>AISovereigntyPolicy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4032504"/>
            <a:ext cx="1371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aisov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4032504"/>
            <a:ext cx="658368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Zones autorisées/interdites, données sensibles, audit, enforcementMode.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709160"/>
            <a:ext cx="11155680" cy="612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709160"/>
            <a:ext cx="50800" cy="61264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4709160"/>
            <a:ext cx="2834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B2D"/>
                </a:solidFill>
                <a:latin typeface="Calibri"/>
              </a:rPr>
              <a:t>AIBreakEvenAnalysis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709160"/>
            <a:ext cx="1371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aibreakeven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4709160"/>
            <a:ext cx="658368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Point mort managé vs auto-hébergé + recommandation.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385816"/>
            <a:ext cx="11155680" cy="6126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385816"/>
            <a:ext cx="50800" cy="61264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5385816"/>
            <a:ext cx="283464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B2D"/>
                </a:solidFill>
                <a:latin typeface="Calibri"/>
              </a:rPr>
              <a:t>AIFinOpsReport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5385816"/>
            <a:ext cx="137160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B82F6"/>
                </a:solidFill>
                <a:latin typeface="Calibri"/>
              </a:rPr>
              <a:t>aireport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3480" y="5385816"/>
            <a:ext cx="6583680" cy="6126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Rapport consolidé généré (coûts, findings, recommandations).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MISE EN ŒUVRE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Déploiement &amp; exploitation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57784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C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577840" cy="38404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99032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Local (kind, sans build)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5212080" cy="9144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43345"/>
                </a:solidFill>
                <a:latin typeface="Calibri"/>
              </a:rPr>
              <a:t>make install        # CRDs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43345"/>
                </a:solidFill>
                <a:latin typeface="Calibri"/>
              </a:rPr>
              <a:t>make run            # manager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43345"/>
                </a:solidFill>
                <a:latin typeface="Calibri"/>
              </a:rPr>
              <a:t>kubectl apply -k config/samples/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44368"/>
            <a:ext cx="557784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944368"/>
            <a:ext cx="5577840" cy="38404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71800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Via Helm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401568"/>
            <a:ext cx="5212080" cy="9144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43345"/>
                </a:solidFill>
                <a:latin typeface="Calibri"/>
              </a:rPr>
              <a:t>helm install greenops 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43345"/>
                </a:solidFill>
                <a:latin typeface="Calibri"/>
              </a:rPr>
              <a:t>  charts/ai-sovereign-finops-operator 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43345"/>
                </a:solidFill>
                <a:latin typeface="Calibri"/>
              </a:rPr>
              <a:t>  -n greenops-system --create-namespace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17136"/>
            <a:ext cx="557784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517136"/>
            <a:ext cx="5577840" cy="3840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44568"/>
            <a:ext cx="5212080" cy="347472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Démo réelle — trafic réel (1 commande)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974336"/>
            <a:ext cx="5212080" cy="9144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43345"/>
                </a:solidFill>
                <a:latin typeface="Calibri"/>
              </a:rPr>
              <a:t>cd automatisation/envoy-aigw &amp;&amp; ./deploy.sh 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43345"/>
                </a:solidFill>
                <a:latin typeface="Calibri"/>
              </a:rPr>
              <a:t># apps réelles → Envoy AI Gateway → LLM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43345"/>
                </a:solidFill>
                <a:latin typeface="Calibri"/>
              </a:rPr>
              <a:t># tokens mesurés, pas de fake · dashboard :3000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371600"/>
            <a:ext cx="5349240" cy="29900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1481328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B2D"/>
                </a:solidFill>
                <a:latin typeface="Calibri"/>
              </a:rPr>
              <a:t>Sécurisé par défaut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1920240"/>
            <a:ext cx="5029200" cy="23774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✓  Conteneur non-root, FS racine en lecture seule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✓  capabilities: drop ALL · seccomp RuntimeDefault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✓  RBAC au moindre privilège (généré)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✓  Secrets de gateway référencés, jamais copiés en status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✓  Service /metrics:8080 (--metrics-secure pour durcir)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✓  Chart : CRDs + Deployment + RBAC + ServiceMonitor opt.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37760"/>
            <a:ext cx="11155680" cy="1188720"/>
          </a:xfrm>
          <a:prstGeom prst="round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47488"/>
            <a:ext cx="10698480" cy="10058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C87A"/>
                </a:solidFill>
                <a:latin typeface="Calibri"/>
              </a:rPr>
              <a:t>Stack 100% CNCF : 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Kubernetes · controller-runtime · Prometheus · Grafana · Helm · Kustomize · ArgoCD · Envoy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B8C6D4"/>
                </a:solidFill>
                <a:latin typeface="Calibri"/>
              </a:rPr>
              <a:t>Go 1.25 · Kubernetes ≥ 1.29 · Apache 2.0 · GitOps via ArgoCD (make up) ou chemin offline Helm (make local).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Problème → fonctionnalité → impact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3474720" cy="4572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C87A"/>
                </a:solidFill>
                <a:latin typeface="Calibri"/>
              </a:rPr>
              <a:t>Problème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9" y="1417320"/>
            <a:ext cx="3840480" cy="4572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3B82F6"/>
                </a:solidFill>
                <a:latin typeface="Calibri"/>
              </a:rPr>
              <a:t>Fonctionnalité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1417320"/>
            <a:ext cx="3840480" cy="45720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C87A"/>
                </a:solidFill>
                <a:latin typeface="Calibri"/>
              </a:rPr>
              <a:t>Impact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20"/>
            <a:ext cx="11155680" cy="74980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50800" cy="74980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74520"/>
            <a:ext cx="347472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53E3E"/>
                </a:solidFill>
                <a:latin typeface="Calibri"/>
              </a:rPr>
              <a:t>Opacité des coûts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1874520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Moteur de coût + catalogue défaut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1874520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7A4D"/>
                </a:solidFill>
                <a:latin typeface="Calibri"/>
              </a:rPr>
              <a:t>Chargeback dès l'install, sans 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660904"/>
            <a:ext cx="111556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660904"/>
            <a:ext cx="50800" cy="74980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60904"/>
            <a:ext cx="347472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53E3E"/>
                </a:solidFill>
                <a:latin typeface="Calibri"/>
              </a:rPr>
              <a:t>Dépassement subi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9" y="2660904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Moteur de budget (phases + actions)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2660904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7A4D"/>
                </a:solidFill>
                <a:latin typeface="Calibri"/>
              </a:rPr>
              <a:t>Alerte avant la facture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47288"/>
            <a:ext cx="11155680" cy="74980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447288"/>
            <a:ext cx="50800" cy="74980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47288"/>
            <a:ext cx="347472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53E3E"/>
                </a:solidFill>
                <a:latin typeface="Calibri"/>
              </a:rPr>
              <a:t>Donnée hors contrôle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9" y="3447288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Souveraineté + enforcement (reroute)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447288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7A4D"/>
                </a:solidFill>
                <a:latin typeface="Calibri"/>
              </a:rPr>
              <a:t>Violation détectée ET reroutée (Envoy)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33672"/>
            <a:ext cx="111556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233672"/>
            <a:ext cx="50800" cy="74980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347472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53E3E"/>
                </a:solidFill>
                <a:latin typeface="Calibri"/>
              </a:rPr>
              <a:t>Shadow-AI (hors gateway)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9" y="4233672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Plan eBPF / Tetragon (shadowengine)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4233672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7A4D"/>
                </a:solidFill>
                <a:latin typeface="Calibri"/>
              </a:rPr>
              <a:t>Angle mort fermé (validé AKS)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0056"/>
            <a:ext cx="11155680" cy="74980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020056"/>
            <a:ext cx="50800" cy="74980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020056"/>
            <a:ext cx="347472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53E3E"/>
                </a:solidFill>
                <a:latin typeface="Calibri"/>
              </a:rPr>
              <a:t>Arbitrage à l'aveugle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020056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Moteur break-even (payback)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5020056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7A4D"/>
                </a:solidFill>
                <a:latin typeface="Calibri"/>
              </a:rPr>
              <a:t>Décision GPU chiffrée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806440"/>
            <a:ext cx="111556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5806440"/>
            <a:ext cx="50800" cy="749808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806440"/>
            <a:ext cx="347472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53E3E"/>
                </a:solidFill>
                <a:latin typeface="Calibri"/>
              </a:rPr>
              <a:t>Constats éparpillés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799" y="5806440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Reporting (Markdown / JSON)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80" y="5806440"/>
            <a:ext cx="3840480" cy="78638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7A4D"/>
                </a:solidFill>
                <a:latin typeface="Calibri"/>
              </a:rPr>
              <a:t>Dossier d'audit reproductible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EC87A"/>
                </a:solidFill>
                <a:latin typeface="Calibri"/>
              </a:rPr>
              <a:t>HONNÊTETÉ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241280" cy="56692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Limites &amp; hypothèses (assumées)</a:t>
            </a:r>
          </a:p>
        </p:txBody>
      </p:sp>
      <p:sp>
        <p:nvSpPr>
          <p:cNvPr id="6" name="Oval 5"/>
          <p:cNvSpPr/>
          <p:nvPr/>
        </p:nvSpPr>
        <p:spPr>
          <a:xfrm>
            <a:off x="11277295" y="283464"/>
            <a:ext cx="457200" cy="457200"/>
          </a:xfrm>
          <a:prstGeom prst="ellipse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B2D"/>
                </a:solidFill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11155680" cy="6583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6350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Enforcement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371600"/>
            <a:ext cx="7955279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reportOnly (défaut) observe ; warn alerte ; enforce réécrit la route Envoy, réversible.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39696"/>
            <a:ext cx="11155680" cy="6583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39696"/>
            <a:ext cx="6350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Pas d'attestation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139696"/>
            <a:ext cx="7955279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Prépare un dossier d'audit (RGPD/AI Act) ; ne garantit pas la conformité juridique.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07792"/>
            <a:ext cx="11155680" cy="6583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6350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90779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Télémétrie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907792"/>
            <a:ext cx="7955279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prometheus · configmap · aigw (Envoy) réels ; fake opt-in explicite ; LiteLLM retiré.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75888"/>
            <a:ext cx="11155680" cy="6583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675888"/>
            <a:ext cx="6350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67588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Coûts déclaratifs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675888"/>
            <a:ext cx="7955279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Basés sur le pricing AIProvider ; modèles sans provider = non pricés.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43984"/>
            <a:ext cx="11155680" cy="6583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443984"/>
            <a:ext cx="6350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439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Mono-devise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443984"/>
            <a:ext cx="7955279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Pas de conversion multi-devise ; devise dominante rapportée telle quelle.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12080"/>
            <a:ext cx="11155680" cy="6583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212080"/>
            <a:ext cx="6350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21208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1B2D"/>
                </a:solidFill>
                <a:latin typeface="Calibri"/>
              </a:rPr>
              <a:t>Break-even simple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5212080"/>
            <a:ext cx="7955279" cy="65836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430"/>
                </a:solidFill>
                <a:latin typeface="Calibri"/>
              </a:rPr>
              <a:t>Extrapolation linéaire ; coûts GPU/ops fournis par l'utilisateur ; payback déf. 6 mois.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670"/>
                </a:solidFill>
                <a:latin typeface="Calibri"/>
              </a:rPr>
              <a:t>AI Sovereign FinOps Operator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C87A"/>
                </a:solidFill>
                <a:latin typeface="Calibri"/>
              </a:rPr>
              <a:t>EN UNE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Savoir, à tout instant et de façon prouvable,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qui dépense quoi et où partent les données IA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EC87A"/>
                </a:solidFill>
                <a:latin typeface="Calibri"/>
              </a:rPr>
              <a:t>sans fouiller le code de toutes les équipes.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5486400" cy="38100"/>
          </a:xfrm>
          <a:prstGeom prst="rect">
            <a:avLst/>
          </a:prstGeom>
          <a:solidFill>
            <a:srgbClr val="1E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607040" cy="9144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Catalogue autonome  ·  2 plans souveraineté (gateway + eBPF)  ·  7 CRDs  ·  16 métriques + Grafana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8C6D4"/>
                </a:solidFill>
                <a:latin typeface="Calibri"/>
              </a:rPr>
              <a:t>Validé bout-en-bout sur cluster réel (kind + AKS)  ·  enforce reroute Envoy  ·  shadow-AI eBPF  ·  100% CNCF  ·  Apache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607040" cy="457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8C6D4"/>
                </a:solidFill>
                <a:latin typeface="Calibri"/>
              </a:rPr>
              <a:t>Prochaine étape : collecteur OTel générique · backend Tetragon gRPC + SNI · action block · multi-devise.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C87A"/>
                </a:solidFill>
                <a:latin typeface="Calibri"/>
              </a:rPr>
              <a:t>Merci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